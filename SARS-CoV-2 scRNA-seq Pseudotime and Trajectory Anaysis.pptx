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73" r:id="rId2"/>
    <p:sldId id="257" r:id="rId3"/>
    <p:sldId id="258" r:id="rId4"/>
    <p:sldId id="267" r:id="rId5"/>
    <p:sldId id="271" r:id="rId6"/>
    <p:sldId id="270" r:id="rId7"/>
    <p:sldId id="272" r:id="rId8"/>
    <p:sldId id="275" r:id="rId9"/>
  </p:sldIdLst>
  <p:sldSz cx="17475200" cy="9753600"/>
  <p:notesSz cx="17475200" cy="97536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218" y="288"/>
      </p:cViewPr>
      <p:guideLst>
        <p:guide orient="horz" pos="2880"/>
        <p:guide pos="215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572375" cy="4889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9898063" y="0"/>
            <a:ext cx="7572375" cy="488950"/>
          </a:xfrm>
          <a:prstGeom prst="rect">
            <a:avLst/>
          </a:prstGeom>
        </p:spPr>
        <p:txBody>
          <a:bodyPr vert="horz" lIns="91440" tIns="45720" rIns="91440" bIns="45720" rtlCol="0"/>
          <a:lstStyle>
            <a:lvl1pPr algn="r">
              <a:defRPr sz="1200"/>
            </a:lvl1pPr>
          </a:lstStyle>
          <a:p>
            <a:fld id="{79AB4429-286B-4E8B-85A9-3C2472057A18}" type="datetimeFigureOut">
              <a:rPr lang="en-US" smtClean="0"/>
              <a:t>12/6/2025</a:t>
            </a:fld>
            <a:endParaRPr lang="en-US"/>
          </a:p>
        </p:txBody>
      </p:sp>
      <p:sp>
        <p:nvSpPr>
          <p:cNvPr id="4" name="Slide Image Placeholder 3"/>
          <p:cNvSpPr>
            <a:spLocks noGrp="1" noRot="1" noChangeAspect="1"/>
          </p:cNvSpPr>
          <p:nvPr>
            <p:ph type="sldImg" idx="2"/>
          </p:nvPr>
        </p:nvSpPr>
        <p:spPr>
          <a:xfrm>
            <a:off x="5788025" y="1219200"/>
            <a:ext cx="5899150" cy="32924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747838" y="4694238"/>
            <a:ext cx="13979525" cy="3840162"/>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264650"/>
            <a:ext cx="7572375" cy="4889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9898063" y="9264650"/>
            <a:ext cx="7572375" cy="488950"/>
          </a:xfrm>
          <a:prstGeom prst="rect">
            <a:avLst/>
          </a:prstGeom>
        </p:spPr>
        <p:txBody>
          <a:bodyPr vert="horz" lIns="91440" tIns="45720" rIns="91440" bIns="45720" rtlCol="0" anchor="b"/>
          <a:lstStyle>
            <a:lvl1pPr algn="r">
              <a:defRPr sz="1200"/>
            </a:lvl1pPr>
          </a:lstStyle>
          <a:p>
            <a:fld id="{89C83EC6-48D5-4FAF-93F4-CA3A2ABD4324}" type="slidenum">
              <a:rPr lang="en-US" smtClean="0"/>
              <a:t>‹#›</a:t>
            </a:fld>
            <a:endParaRPr lang="en-US"/>
          </a:p>
        </p:txBody>
      </p:sp>
    </p:spTree>
    <p:extLst>
      <p:ext uri="{BB962C8B-B14F-4D97-AF65-F5344CB8AC3E}">
        <p14:creationId xmlns:p14="http://schemas.microsoft.com/office/powerpoint/2010/main" val="4249202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89613" y="1219200"/>
            <a:ext cx="5895975" cy="3292475"/>
          </a:xfrm>
        </p:spPr>
      </p:sp>
      <p:sp>
        <p:nvSpPr>
          <p:cNvPr id="3" name="Notes Placeholder 2"/>
          <p:cNvSpPr>
            <a:spLocks noGrp="1"/>
          </p:cNvSpPr>
          <p:nvPr>
            <p:ph type="body" idx="1"/>
          </p:nvPr>
        </p:nvSpPr>
        <p:spPr/>
        <p:txBody>
          <a:bodyPr/>
          <a:lstStyle/>
          <a:p>
            <a:r>
              <a:rPr lang="en-US"/>
              <a:t>Image source: Microsoft 365 content library
Trajectory analysis in Scanpy enables the study of cellular development and differentiation paths using single-cell RNA-seq data. Visual tools like pseudotime plots and UMAP projections help illustrate dynamic cellular changes. These visualisations reveal progression and branching events, aiding in the understanding of complex biological processes.</a:t>
            </a:r>
          </a:p>
        </p:txBody>
      </p:sp>
      <p:sp>
        <p:nvSpPr>
          <p:cNvPr id="4" name="Slide Number Placeholder 3"/>
          <p:cNvSpPr>
            <a:spLocks noGrp="1"/>
          </p:cNvSpPr>
          <p:nvPr>
            <p:ph type="sldNum" sz="quarter" idx="5"/>
          </p:nvPr>
        </p:nvSpPr>
        <p:spPr/>
        <p:txBody>
          <a:bodyPr/>
          <a:lstStyle/>
          <a:p>
            <a:fld id="{EAAA561B-F72D-4356-BC8C-B43134C44069}" type="slidenum">
              <a:rPr lang="en-US" smtClean="0"/>
              <a:t>1</a:t>
            </a:fld>
            <a:endParaRPr lang="en-US"/>
          </a:p>
        </p:txBody>
      </p:sp>
    </p:spTree>
    <p:extLst>
      <p:ext uri="{BB962C8B-B14F-4D97-AF65-F5344CB8AC3E}">
        <p14:creationId xmlns:p14="http://schemas.microsoft.com/office/powerpoint/2010/main" val="543353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A334A-E9FA-D32F-643B-B0B7247EB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00161-1996-39B0-9697-152783FF8396}"/>
              </a:ext>
            </a:extLst>
          </p:cNvPr>
          <p:cNvSpPr>
            <a:spLocks noGrp="1" noRot="1" noChangeAspect="1"/>
          </p:cNvSpPr>
          <p:nvPr>
            <p:ph type="sldImg"/>
          </p:nvPr>
        </p:nvSpPr>
        <p:spPr>
          <a:xfrm>
            <a:off x="5789613" y="1219200"/>
            <a:ext cx="5895975" cy="3292475"/>
          </a:xfrm>
        </p:spPr>
      </p:sp>
      <p:sp>
        <p:nvSpPr>
          <p:cNvPr id="3" name="Notes Placeholder 2">
            <a:extLst>
              <a:ext uri="{FF2B5EF4-FFF2-40B4-BE49-F238E27FC236}">
                <a16:creationId xmlns:a16="http://schemas.microsoft.com/office/drawing/2014/main" id="{F9A584FC-4238-9BCC-B213-3AB8E1D6A3F4}"/>
              </a:ext>
            </a:extLst>
          </p:cNvPr>
          <p:cNvSpPr>
            <a:spLocks noGrp="1"/>
          </p:cNvSpPr>
          <p:nvPr>
            <p:ph type="body" idx="1"/>
          </p:nvPr>
        </p:nvSpPr>
        <p:spPr/>
        <p:txBody>
          <a:bodyPr/>
          <a:lstStyle/>
          <a:p>
            <a:r>
              <a:rPr lang="en-US"/>
              <a:t>Image source: Microsoft 365 content library
Pseudotime analysis reveals how individual cells progress during SARS-CoV-2 infection, highlighting dynamic changes in gene expression. This approach uncovers cellular pathways affected at different infection stages. Understanding these dynamics aids in identifying targets for therapeutic intervention and deepens insight into the host response to SARS-CoV-2.</a:t>
            </a:r>
          </a:p>
        </p:txBody>
      </p:sp>
      <p:sp>
        <p:nvSpPr>
          <p:cNvPr id="4" name="Slide Number Placeholder 3">
            <a:extLst>
              <a:ext uri="{FF2B5EF4-FFF2-40B4-BE49-F238E27FC236}">
                <a16:creationId xmlns:a16="http://schemas.microsoft.com/office/drawing/2014/main" id="{737D6438-3ADB-C98E-34DE-AF03F48A29BA}"/>
              </a:ext>
            </a:extLst>
          </p:cNvPr>
          <p:cNvSpPr>
            <a:spLocks noGrp="1"/>
          </p:cNvSpPr>
          <p:nvPr>
            <p:ph type="sldNum" sz="quarter" idx="5"/>
          </p:nvPr>
        </p:nvSpPr>
        <p:spPr/>
        <p:txBody>
          <a:bodyPr/>
          <a:lstStyle/>
          <a:p>
            <a:fld id="{89C83EC6-48D5-4FAF-93F4-CA3A2ABD4324}" type="slidenum">
              <a:rPr lang="en-US" smtClean="0"/>
              <a:t>8</a:t>
            </a:fld>
            <a:endParaRPr lang="en-US"/>
          </a:p>
        </p:txBody>
      </p:sp>
    </p:spTree>
    <p:extLst>
      <p:ext uri="{BB962C8B-B14F-4D97-AF65-F5344CB8AC3E}">
        <p14:creationId xmlns:p14="http://schemas.microsoft.com/office/powerpoint/2010/main" val="1182344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10640" y="3023618"/>
            <a:ext cx="14853920" cy="838691"/>
          </a:xfrm>
          <a:prstGeom prst="rect">
            <a:avLst/>
          </a:prstGeom>
        </p:spPr>
        <p:txBody>
          <a:bodyPr wrap="square" lIns="0" tIns="0" rIns="0" bIns="0">
            <a:spAutoFit/>
          </a:bodyPr>
          <a:lstStyle>
            <a:lvl1pPr>
              <a:defRPr sz="5450" b="0" i="0">
                <a:solidFill>
                  <a:srgbClr val="232323"/>
                </a:solidFill>
                <a:latin typeface="Arial MT"/>
                <a:cs typeface="Arial MT"/>
              </a:defRPr>
            </a:lvl1pPr>
          </a:lstStyle>
          <a:p>
            <a:endParaRPr/>
          </a:p>
        </p:txBody>
      </p:sp>
      <p:sp>
        <p:nvSpPr>
          <p:cNvPr id="3" name="Holder 3"/>
          <p:cNvSpPr>
            <a:spLocks noGrp="1"/>
          </p:cNvSpPr>
          <p:nvPr>
            <p:ph type="subTitle" idx="4"/>
          </p:nvPr>
        </p:nvSpPr>
        <p:spPr>
          <a:xfrm>
            <a:off x="2621280" y="5462017"/>
            <a:ext cx="12232640" cy="438582"/>
          </a:xfrm>
          <a:prstGeom prst="rect">
            <a:avLst/>
          </a:prstGeom>
        </p:spPr>
        <p:txBody>
          <a:bodyPr wrap="square" lIns="0" tIns="0" rIns="0" bIns="0">
            <a:spAutoFit/>
          </a:bodyPr>
          <a:lstStyle>
            <a:lvl1pPr>
              <a:defRPr sz="28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500" b="0" i="0">
                <a:solidFill>
                  <a:schemeClr val="tx1"/>
                </a:solidFill>
                <a:latin typeface="Arial MT"/>
                <a:cs typeface="Arial MT"/>
              </a:defRPr>
            </a:lvl1pPr>
          </a:lstStyle>
          <a:p>
            <a:pPr marL="13970">
              <a:lnSpc>
                <a:spcPts val="1555"/>
              </a:lnSpc>
            </a:pPr>
            <a:r>
              <a:rPr lang="en-US" sz="1299"/>
              <a:t>G</a:t>
            </a:r>
            <a:r>
              <a:rPr lang="en-US" sz="1299" spc="484"/>
              <a:t> </a:t>
            </a:r>
            <a:r>
              <a:rPr lang="en-US" sz="1299" spc="-9"/>
              <a:t>NotebookLM</a:t>
            </a:r>
            <a:endParaRPr lang="en-US" sz="1299"/>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99865" y="497065"/>
            <a:ext cx="15875471" cy="838691"/>
          </a:xfrm>
        </p:spPr>
        <p:txBody>
          <a:bodyPr lIns="0" tIns="0" rIns="0" bIns="0"/>
          <a:lstStyle>
            <a:lvl1pPr>
              <a:defRPr sz="5450" b="0" i="0">
                <a:solidFill>
                  <a:srgbClr val="232323"/>
                </a:solidFill>
                <a:latin typeface="Arial MT"/>
                <a:cs typeface="Arial MT"/>
              </a:defRPr>
            </a:lvl1pPr>
          </a:lstStyle>
          <a:p>
            <a:endParaRPr/>
          </a:p>
        </p:txBody>
      </p:sp>
      <p:sp>
        <p:nvSpPr>
          <p:cNvPr id="3" name="Holder 3"/>
          <p:cNvSpPr>
            <a:spLocks noGrp="1"/>
          </p:cNvSpPr>
          <p:nvPr>
            <p:ph type="body" idx="1"/>
          </p:nvPr>
        </p:nvSpPr>
        <p:spPr>
          <a:xfrm>
            <a:off x="956876" y="3873853"/>
            <a:ext cx="7585709" cy="438582"/>
          </a:xfrm>
        </p:spPr>
        <p:txBody>
          <a:bodyPr lIns="0" tIns="0" rIns="0" bIns="0"/>
          <a:lstStyle>
            <a:lvl1pPr>
              <a:defRPr sz="28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500" b="0" i="0">
                <a:solidFill>
                  <a:schemeClr val="tx1"/>
                </a:solidFill>
                <a:latin typeface="Arial MT"/>
                <a:cs typeface="Arial MT"/>
              </a:defRPr>
            </a:lvl1pPr>
          </a:lstStyle>
          <a:p>
            <a:pPr marL="13970">
              <a:lnSpc>
                <a:spcPts val="1555"/>
              </a:lnSpc>
            </a:pPr>
            <a:r>
              <a:rPr lang="en-US" sz="1299"/>
              <a:t>G</a:t>
            </a:r>
            <a:r>
              <a:rPr lang="en-US" sz="1299" spc="484"/>
              <a:t> </a:t>
            </a:r>
            <a:r>
              <a:rPr lang="en-US" sz="1299" spc="-9"/>
              <a:t>NotebookLM</a:t>
            </a:r>
            <a:endParaRPr lang="en-US" sz="1299"/>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799865" y="497065"/>
            <a:ext cx="15875471" cy="838691"/>
          </a:xfrm>
        </p:spPr>
        <p:txBody>
          <a:bodyPr lIns="0" tIns="0" rIns="0" bIns="0"/>
          <a:lstStyle>
            <a:lvl1pPr>
              <a:defRPr sz="5450" b="0" i="0">
                <a:solidFill>
                  <a:srgbClr val="232323"/>
                </a:solidFill>
                <a:latin typeface="Arial MT"/>
                <a:cs typeface="Arial MT"/>
              </a:defRPr>
            </a:lvl1pPr>
          </a:lstStyle>
          <a:p>
            <a:endParaRPr/>
          </a:p>
        </p:txBody>
      </p:sp>
      <p:sp>
        <p:nvSpPr>
          <p:cNvPr id="3" name="Holder 3"/>
          <p:cNvSpPr>
            <a:spLocks noGrp="1"/>
          </p:cNvSpPr>
          <p:nvPr>
            <p:ph sz="half" idx="2"/>
          </p:nvPr>
        </p:nvSpPr>
        <p:spPr>
          <a:xfrm>
            <a:off x="873760" y="2243328"/>
            <a:ext cx="7601712" cy="43858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999728" y="2243328"/>
            <a:ext cx="7601712" cy="43858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500" b="0" i="0">
                <a:solidFill>
                  <a:schemeClr val="tx1"/>
                </a:solidFill>
                <a:latin typeface="Arial MT"/>
                <a:cs typeface="Arial MT"/>
              </a:defRPr>
            </a:lvl1pPr>
          </a:lstStyle>
          <a:p>
            <a:pPr marL="13970">
              <a:lnSpc>
                <a:spcPts val="1555"/>
              </a:lnSpc>
            </a:pPr>
            <a:r>
              <a:rPr lang="en-US" sz="1299"/>
              <a:t>G</a:t>
            </a:r>
            <a:r>
              <a:rPr lang="en-US" sz="1299" spc="484"/>
              <a:t> </a:t>
            </a:r>
            <a:r>
              <a:rPr lang="en-US" sz="1299" spc="-9"/>
              <a:t>NotebookLM</a:t>
            </a:r>
            <a:endParaRPr lang="en-US" sz="1299"/>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520701" y="482600"/>
            <a:ext cx="16433800" cy="8788400"/>
          </a:xfrm>
          <a:prstGeom prst="rect">
            <a:avLst/>
          </a:prstGeom>
        </p:spPr>
      </p:pic>
      <p:sp>
        <p:nvSpPr>
          <p:cNvPr id="2" name="Holder 2"/>
          <p:cNvSpPr>
            <a:spLocks noGrp="1"/>
          </p:cNvSpPr>
          <p:nvPr>
            <p:ph type="title"/>
          </p:nvPr>
        </p:nvSpPr>
        <p:spPr>
          <a:xfrm>
            <a:off x="799865" y="497065"/>
            <a:ext cx="15875471" cy="838691"/>
          </a:xfrm>
        </p:spPr>
        <p:txBody>
          <a:bodyPr lIns="0" tIns="0" rIns="0" bIns="0"/>
          <a:lstStyle>
            <a:lvl1pPr>
              <a:defRPr sz="5450" b="0" i="0">
                <a:solidFill>
                  <a:srgbClr val="232323"/>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1500" b="0" i="0">
                <a:solidFill>
                  <a:schemeClr val="tx1"/>
                </a:solidFill>
                <a:latin typeface="Arial MT"/>
                <a:cs typeface="Arial MT"/>
              </a:defRPr>
            </a:lvl1pPr>
          </a:lstStyle>
          <a:p>
            <a:pPr marL="13970">
              <a:lnSpc>
                <a:spcPts val="1555"/>
              </a:lnSpc>
            </a:pPr>
            <a:r>
              <a:rPr lang="en-US" sz="1299"/>
              <a:t>G</a:t>
            </a:r>
            <a:r>
              <a:rPr lang="en-US" sz="1299" spc="484"/>
              <a:t> </a:t>
            </a:r>
            <a:r>
              <a:rPr lang="en-US" sz="1299" spc="-9"/>
              <a:t>NotebookLM</a:t>
            </a:r>
            <a:endParaRPr lang="en-US" sz="1299"/>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500" b="0" i="0">
                <a:solidFill>
                  <a:schemeClr val="tx1"/>
                </a:solidFill>
                <a:latin typeface="Arial MT"/>
                <a:cs typeface="Arial MT"/>
              </a:defRPr>
            </a:lvl1pPr>
          </a:lstStyle>
          <a:p>
            <a:pPr marL="13970">
              <a:lnSpc>
                <a:spcPts val="1555"/>
              </a:lnSpc>
            </a:pPr>
            <a:r>
              <a:rPr lang="en-US" sz="1299"/>
              <a:t>G</a:t>
            </a:r>
            <a:r>
              <a:rPr lang="en-US" sz="1299" spc="484"/>
              <a:t> </a:t>
            </a:r>
            <a:r>
              <a:rPr lang="en-US" sz="1299" spc="-9"/>
              <a:t>NotebookLM</a:t>
            </a:r>
            <a:endParaRPr lang="en-US" sz="1299"/>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99865" y="497065"/>
            <a:ext cx="15875471" cy="838691"/>
          </a:xfrm>
          <a:prstGeom prst="rect">
            <a:avLst/>
          </a:prstGeom>
        </p:spPr>
        <p:txBody>
          <a:bodyPr wrap="square" lIns="0" tIns="0" rIns="0" bIns="0">
            <a:spAutoFit/>
          </a:bodyPr>
          <a:lstStyle>
            <a:lvl1pPr>
              <a:defRPr sz="5450" b="0" i="0">
                <a:solidFill>
                  <a:srgbClr val="232323"/>
                </a:solidFill>
                <a:latin typeface="Arial MT"/>
                <a:cs typeface="Arial MT"/>
              </a:defRPr>
            </a:lvl1pPr>
          </a:lstStyle>
          <a:p>
            <a:endParaRPr/>
          </a:p>
        </p:txBody>
      </p:sp>
      <p:sp>
        <p:nvSpPr>
          <p:cNvPr id="3" name="Holder 3"/>
          <p:cNvSpPr>
            <a:spLocks noGrp="1"/>
          </p:cNvSpPr>
          <p:nvPr>
            <p:ph type="body" idx="1"/>
          </p:nvPr>
        </p:nvSpPr>
        <p:spPr>
          <a:xfrm>
            <a:off x="956876" y="3873852"/>
            <a:ext cx="7585709" cy="438582"/>
          </a:xfrm>
          <a:prstGeom prst="rect">
            <a:avLst/>
          </a:prstGeom>
        </p:spPr>
        <p:txBody>
          <a:bodyPr wrap="square" lIns="0" tIns="0" rIns="0" bIns="0">
            <a:spAutoFit/>
          </a:bodyPr>
          <a:lstStyle>
            <a:lvl1pPr>
              <a:defRPr sz="285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16105975" y="9431902"/>
            <a:ext cx="1233944" cy="191847"/>
          </a:xfrm>
          <a:prstGeom prst="rect">
            <a:avLst/>
          </a:prstGeom>
        </p:spPr>
        <p:txBody>
          <a:bodyPr wrap="square" lIns="0" tIns="0" rIns="0" bIns="0">
            <a:spAutoFit/>
          </a:bodyPr>
          <a:lstStyle>
            <a:lvl1pPr>
              <a:defRPr sz="1500" b="0" i="0">
                <a:solidFill>
                  <a:schemeClr val="tx1"/>
                </a:solidFill>
                <a:latin typeface="Arial MT"/>
                <a:cs typeface="Arial MT"/>
              </a:defRPr>
            </a:lvl1pPr>
          </a:lstStyle>
          <a:p>
            <a:pPr marL="13970">
              <a:lnSpc>
                <a:spcPts val="1555"/>
              </a:lnSpc>
            </a:pPr>
            <a:r>
              <a:rPr lang="en-US" sz="1299"/>
              <a:t>G</a:t>
            </a:r>
            <a:r>
              <a:rPr lang="en-US" sz="1299" spc="484"/>
              <a:t> </a:t>
            </a:r>
            <a:r>
              <a:rPr lang="en-US" sz="1299" spc="-9"/>
              <a:t>NotebookLM</a:t>
            </a:r>
            <a:endParaRPr lang="en-US" sz="1299"/>
          </a:p>
        </p:txBody>
      </p:sp>
      <p:sp>
        <p:nvSpPr>
          <p:cNvPr id="5" name="Holder 5"/>
          <p:cNvSpPr>
            <a:spLocks noGrp="1"/>
          </p:cNvSpPr>
          <p:nvPr>
            <p:ph type="dt" sz="half" idx="6"/>
          </p:nvPr>
        </p:nvSpPr>
        <p:spPr>
          <a:xfrm>
            <a:off x="873760" y="9070849"/>
            <a:ext cx="4019296"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12/6/2025</a:t>
            </a:fld>
            <a:endParaRPr lang="en-US"/>
          </a:p>
        </p:txBody>
      </p:sp>
      <p:sp>
        <p:nvSpPr>
          <p:cNvPr id="6" name="Holder 6"/>
          <p:cNvSpPr>
            <a:spLocks noGrp="1"/>
          </p:cNvSpPr>
          <p:nvPr>
            <p:ph type="sldNum" sz="quarter" idx="7"/>
          </p:nvPr>
        </p:nvSpPr>
        <p:spPr>
          <a:xfrm>
            <a:off x="12582144" y="9070849"/>
            <a:ext cx="4019296"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25">
        <a:defRPr>
          <a:latin typeface="+mn-lt"/>
          <a:ea typeface="+mn-ea"/>
          <a:cs typeface="+mn-cs"/>
        </a:defRPr>
      </a:lvl2pPr>
      <a:lvl3pPr marL="914451">
        <a:defRPr>
          <a:latin typeface="+mn-lt"/>
          <a:ea typeface="+mn-ea"/>
          <a:cs typeface="+mn-cs"/>
        </a:defRPr>
      </a:lvl3pPr>
      <a:lvl4pPr marL="1371677">
        <a:defRPr>
          <a:latin typeface="+mn-lt"/>
          <a:ea typeface="+mn-ea"/>
          <a:cs typeface="+mn-cs"/>
        </a:defRPr>
      </a:lvl4pPr>
      <a:lvl5pPr marL="1828902">
        <a:defRPr>
          <a:latin typeface="+mn-lt"/>
          <a:ea typeface="+mn-ea"/>
          <a:cs typeface="+mn-cs"/>
        </a:defRPr>
      </a:lvl5pPr>
      <a:lvl6pPr marL="2286128">
        <a:defRPr>
          <a:latin typeface="+mn-lt"/>
          <a:ea typeface="+mn-ea"/>
          <a:cs typeface="+mn-cs"/>
        </a:defRPr>
      </a:lvl6pPr>
      <a:lvl7pPr marL="2743353">
        <a:defRPr>
          <a:latin typeface="+mn-lt"/>
          <a:ea typeface="+mn-ea"/>
          <a:cs typeface="+mn-cs"/>
        </a:defRPr>
      </a:lvl7pPr>
      <a:lvl8pPr marL="3200580">
        <a:defRPr>
          <a:latin typeface="+mn-lt"/>
          <a:ea typeface="+mn-ea"/>
          <a:cs typeface="+mn-cs"/>
        </a:defRPr>
      </a:lvl8pPr>
      <a:lvl9pPr marL="3657805">
        <a:defRPr>
          <a:latin typeface="+mn-lt"/>
          <a:ea typeface="+mn-ea"/>
          <a:cs typeface="+mn-cs"/>
        </a:defRPr>
      </a:lvl9pPr>
    </p:bodyStyle>
    <p:otherStyle>
      <a:lvl1pPr marL="0">
        <a:defRPr>
          <a:latin typeface="+mn-lt"/>
          <a:ea typeface="+mn-ea"/>
          <a:cs typeface="+mn-cs"/>
        </a:defRPr>
      </a:lvl1pPr>
      <a:lvl2pPr marL="457225">
        <a:defRPr>
          <a:latin typeface="+mn-lt"/>
          <a:ea typeface="+mn-ea"/>
          <a:cs typeface="+mn-cs"/>
        </a:defRPr>
      </a:lvl2pPr>
      <a:lvl3pPr marL="914451">
        <a:defRPr>
          <a:latin typeface="+mn-lt"/>
          <a:ea typeface="+mn-ea"/>
          <a:cs typeface="+mn-cs"/>
        </a:defRPr>
      </a:lvl3pPr>
      <a:lvl4pPr marL="1371677">
        <a:defRPr>
          <a:latin typeface="+mn-lt"/>
          <a:ea typeface="+mn-ea"/>
          <a:cs typeface="+mn-cs"/>
        </a:defRPr>
      </a:lvl4pPr>
      <a:lvl5pPr marL="1828902">
        <a:defRPr>
          <a:latin typeface="+mn-lt"/>
          <a:ea typeface="+mn-ea"/>
          <a:cs typeface="+mn-cs"/>
        </a:defRPr>
      </a:lvl5pPr>
      <a:lvl6pPr marL="2286128">
        <a:defRPr>
          <a:latin typeface="+mn-lt"/>
          <a:ea typeface="+mn-ea"/>
          <a:cs typeface="+mn-cs"/>
        </a:defRPr>
      </a:lvl6pPr>
      <a:lvl7pPr marL="2743353">
        <a:defRPr>
          <a:latin typeface="+mn-lt"/>
          <a:ea typeface="+mn-ea"/>
          <a:cs typeface="+mn-cs"/>
        </a:defRPr>
      </a:lvl7pPr>
      <a:lvl8pPr marL="3200580">
        <a:defRPr>
          <a:latin typeface="+mn-lt"/>
          <a:ea typeface="+mn-ea"/>
          <a:cs typeface="+mn-cs"/>
        </a:defRPr>
      </a:lvl8pPr>
      <a:lvl9pPr marL="3657805">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jp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16.png"/><Relationship Id="rId7" Type="http://schemas.openxmlformats.org/officeDocument/2006/relationships/image" Target="../media/image20.sv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74752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ronavirus mutation">
            <a:extLst>
              <a:ext uri="{FF2B5EF4-FFF2-40B4-BE49-F238E27FC236}">
                <a16:creationId xmlns:a16="http://schemas.microsoft.com/office/drawing/2014/main" id="{C9EC264E-BEE0-4BE0-A9DF-BFB91BD607FB}"/>
              </a:ext>
            </a:extLst>
          </p:cNvPr>
          <p:cNvPicPr>
            <a:picLocks noGrp="1" noChangeAspect="1"/>
          </p:cNvPicPr>
          <p:nvPr>
            <p:ph sz="half" idx="2"/>
          </p:nvPr>
        </p:nvPicPr>
        <p:blipFill>
          <a:blip r:embed="rId3"/>
          <a:srcRect t="3488" b="3488"/>
          <a:stretch>
            <a:fillRect/>
          </a:stretch>
        </p:blipFill>
        <p:spPr>
          <a:xfrm>
            <a:off x="1" y="2"/>
            <a:ext cx="17475200" cy="9753599"/>
          </a:xfrm>
          <a:prstGeom prst="rect">
            <a:avLst/>
          </a:prstGeom>
        </p:spPr>
      </p:pic>
      <p:sp>
        <p:nvSpPr>
          <p:cNvPr id="17" name="Freeform: Shape 16">
            <a:extLst>
              <a:ext uri="{FF2B5EF4-FFF2-40B4-BE49-F238E27FC236}">
                <a16:creationId xmlns:a16="http://schemas.microsoft.com/office/drawing/2014/main" id="{C74F2646-08C7-4051-81DA-751C43A03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910" y="832389"/>
            <a:ext cx="10085006" cy="7811146"/>
          </a:xfrm>
          <a:custGeom>
            <a:avLst/>
            <a:gdLst>
              <a:gd name="connsiteX0" fmla="*/ 0 w 7036051"/>
              <a:gd name="connsiteY0" fmla="*/ 0 h 5492212"/>
              <a:gd name="connsiteX1" fmla="*/ 7036051 w 7036051"/>
              <a:gd name="connsiteY1" fmla="*/ 0 h 5492212"/>
              <a:gd name="connsiteX2" fmla="*/ 7036051 w 7036051"/>
              <a:gd name="connsiteY2" fmla="*/ 5163846 h 5492212"/>
              <a:gd name="connsiteX3" fmla="*/ 7012593 w 7036051"/>
              <a:gd name="connsiteY3" fmla="*/ 5176898 h 5492212"/>
              <a:gd name="connsiteX4" fmla="*/ 6958601 w 7036051"/>
              <a:gd name="connsiteY4" fmla="*/ 5204359 h 5492212"/>
              <a:gd name="connsiteX5" fmla="*/ 6951226 w 7036051"/>
              <a:gd name="connsiteY5" fmla="*/ 5203241 h 5492212"/>
              <a:gd name="connsiteX6" fmla="*/ 6920864 w 7036051"/>
              <a:gd name="connsiteY6" fmla="*/ 5220003 h 5492212"/>
              <a:gd name="connsiteX7" fmla="*/ 6834841 w 7036051"/>
              <a:gd name="connsiteY7" fmla="*/ 5266115 h 5492212"/>
              <a:gd name="connsiteX8" fmla="*/ 6777937 w 7036051"/>
              <a:gd name="connsiteY8" fmla="*/ 5332502 h 5492212"/>
              <a:gd name="connsiteX9" fmla="*/ 6752874 w 7036051"/>
              <a:gd name="connsiteY9" fmla="*/ 5340428 h 5492212"/>
              <a:gd name="connsiteX10" fmla="*/ 6711115 w 7036051"/>
              <a:gd name="connsiteY10" fmla="*/ 5353924 h 5492212"/>
              <a:gd name="connsiteX11" fmla="*/ 6702149 w 7036051"/>
              <a:gd name="connsiteY11" fmla="*/ 5351500 h 5492212"/>
              <a:gd name="connsiteX12" fmla="*/ 6698458 w 7036051"/>
              <a:gd name="connsiteY12" fmla="*/ 5352743 h 5492212"/>
              <a:gd name="connsiteX13" fmla="*/ 6698049 w 7036051"/>
              <a:gd name="connsiteY13" fmla="*/ 5352570 h 5492212"/>
              <a:gd name="connsiteX14" fmla="*/ 6697297 w 7036051"/>
              <a:gd name="connsiteY14" fmla="*/ 5353134 h 5492212"/>
              <a:gd name="connsiteX15" fmla="*/ 6689118 w 7036051"/>
              <a:gd name="connsiteY15" fmla="*/ 5355890 h 5492212"/>
              <a:gd name="connsiteX16" fmla="*/ 6670605 w 7036051"/>
              <a:gd name="connsiteY16" fmla="*/ 5355427 h 5492212"/>
              <a:gd name="connsiteX17" fmla="*/ 6659606 w 7036051"/>
              <a:gd name="connsiteY17" fmla="*/ 5357084 h 5492212"/>
              <a:gd name="connsiteX18" fmla="*/ 6649636 w 7036051"/>
              <a:gd name="connsiteY18" fmla="*/ 5367869 h 5492212"/>
              <a:gd name="connsiteX19" fmla="*/ 6642159 w 7036051"/>
              <a:gd name="connsiteY19" fmla="*/ 5369506 h 5492212"/>
              <a:gd name="connsiteX20" fmla="*/ 6640764 w 7036051"/>
              <a:gd name="connsiteY20" fmla="*/ 5370991 h 5492212"/>
              <a:gd name="connsiteX21" fmla="*/ 6636665 w 7036051"/>
              <a:gd name="connsiteY21" fmla="*/ 5374002 h 5492212"/>
              <a:gd name="connsiteX22" fmla="*/ 6641287 w 7036051"/>
              <a:gd name="connsiteY22" fmla="*/ 5376181 h 5492212"/>
              <a:gd name="connsiteX23" fmla="*/ 6591018 w 7036051"/>
              <a:gd name="connsiteY23" fmla="*/ 5390981 h 5492212"/>
              <a:gd name="connsiteX24" fmla="*/ 6548326 w 7036051"/>
              <a:gd name="connsiteY24" fmla="*/ 5403583 h 5492212"/>
              <a:gd name="connsiteX25" fmla="*/ 6472868 w 7036051"/>
              <a:gd name="connsiteY25" fmla="*/ 5394733 h 5492212"/>
              <a:gd name="connsiteX26" fmla="*/ 6401194 w 7036051"/>
              <a:gd name="connsiteY26" fmla="*/ 5422870 h 5492212"/>
              <a:gd name="connsiteX27" fmla="*/ 6381961 w 7036051"/>
              <a:gd name="connsiteY27" fmla="*/ 5422940 h 5492212"/>
              <a:gd name="connsiteX28" fmla="*/ 6363834 w 7036051"/>
              <a:gd name="connsiteY28" fmla="*/ 5417751 h 5492212"/>
              <a:gd name="connsiteX29" fmla="*/ 6363997 w 7036051"/>
              <a:gd name="connsiteY29" fmla="*/ 5415912 h 5492212"/>
              <a:gd name="connsiteX30" fmla="*/ 6361124 w 7036051"/>
              <a:gd name="connsiteY30" fmla="*/ 5415066 h 5492212"/>
              <a:gd name="connsiteX31" fmla="*/ 6358507 w 7036051"/>
              <a:gd name="connsiteY31" fmla="*/ 5416224 h 5492212"/>
              <a:gd name="connsiteX32" fmla="*/ 6355073 w 7036051"/>
              <a:gd name="connsiteY32" fmla="*/ 5415242 h 5492212"/>
              <a:gd name="connsiteX33" fmla="*/ 6345676 w 7036051"/>
              <a:gd name="connsiteY33" fmla="*/ 5413049 h 5492212"/>
              <a:gd name="connsiteX34" fmla="*/ 6342596 w 7036051"/>
              <a:gd name="connsiteY34" fmla="*/ 5409297 h 5492212"/>
              <a:gd name="connsiteX35" fmla="*/ 6305742 w 7036051"/>
              <a:gd name="connsiteY35" fmla="*/ 5401622 h 5492212"/>
              <a:gd name="connsiteX36" fmla="*/ 6294445 w 7036051"/>
              <a:gd name="connsiteY36" fmla="*/ 5404149 h 5492212"/>
              <a:gd name="connsiteX37" fmla="*/ 6281414 w 7036051"/>
              <a:gd name="connsiteY37" fmla="*/ 5398024 h 5492212"/>
              <a:gd name="connsiteX38" fmla="*/ 6243972 w 7036051"/>
              <a:gd name="connsiteY38" fmla="*/ 5395807 h 5492212"/>
              <a:gd name="connsiteX39" fmla="*/ 6202379 w 7036051"/>
              <a:gd name="connsiteY39" fmla="*/ 5388661 h 5492212"/>
              <a:gd name="connsiteX40" fmla="*/ 6173010 w 7036051"/>
              <a:gd name="connsiteY40" fmla="*/ 5380606 h 5492212"/>
              <a:gd name="connsiteX41" fmla="*/ 6093421 w 7036051"/>
              <a:gd name="connsiteY41" fmla="*/ 5375473 h 5492212"/>
              <a:gd name="connsiteX42" fmla="*/ 5959474 w 7036051"/>
              <a:gd name="connsiteY42" fmla="*/ 5373386 h 5492212"/>
              <a:gd name="connsiteX43" fmla="*/ 5931492 w 7036051"/>
              <a:gd name="connsiteY43" fmla="*/ 5371513 h 5492212"/>
              <a:gd name="connsiteX44" fmla="*/ 5909558 w 7036051"/>
              <a:gd name="connsiteY44" fmla="*/ 5364228 h 5492212"/>
              <a:gd name="connsiteX45" fmla="*/ 5906319 w 7036051"/>
              <a:gd name="connsiteY45" fmla="*/ 5357590 h 5492212"/>
              <a:gd name="connsiteX46" fmla="*/ 5891268 w 7036051"/>
              <a:gd name="connsiteY46" fmla="*/ 5355650 h 5492212"/>
              <a:gd name="connsiteX47" fmla="*/ 5887711 w 7036051"/>
              <a:gd name="connsiteY47" fmla="*/ 5353947 h 5492212"/>
              <a:gd name="connsiteX48" fmla="*/ 5866852 w 7036051"/>
              <a:gd name="connsiteY48" fmla="*/ 5345374 h 5492212"/>
              <a:gd name="connsiteX49" fmla="*/ 5811310 w 7036051"/>
              <a:gd name="connsiteY49" fmla="*/ 5356530 h 5492212"/>
              <a:gd name="connsiteX50" fmla="*/ 5770689 w 7036051"/>
              <a:gd name="connsiteY50" fmla="*/ 5359014 h 5492212"/>
              <a:gd name="connsiteX51" fmla="*/ 5767719 w 7036051"/>
              <a:gd name="connsiteY51" fmla="*/ 5357260 h 5492212"/>
              <a:gd name="connsiteX52" fmla="*/ 5765688 w 7036051"/>
              <a:gd name="connsiteY52" fmla="*/ 5352793 h 5492212"/>
              <a:gd name="connsiteX53" fmla="*/ 5758598 w 7036051"/>
              <a:gd name="connsiteY53" fmla="*/ 5351053 h 5492212"/>
              <a:gd name="connsiteX54" fmla="*/ 5752036 w 7036051"/>
              <a:gd name="connsiteY54" fmla="*/ 5346019 h 5492212"/>
              <a:gd name="connsiteX55" fmla="*/ 5503590 w 7036051"/>
              <a:gd name="connsiteY55" fmla="*/ 5325537 h 5492212"/>
              <a:gd name="connsiteX56" fmla="*/ 5389848 w 7036051"/>
              <a:gd name="connsiteY56" fmla="*/ 5351472 h 5492212"/>
              <a:gd name="connsiteX57" fmla="*/ 5344450 w 7036051"/>
              <a:gd name="connsiteY57" fmla="*/ 5354840 h 5492212"/>
              <a:gd name="connsiteX58" fmla="*/ 5338428 w 7036051"/>
              <a:gd name="connsiteY58" fmla="*/ 5350516 h 5492212"/>
              <a:gd name="connsiteX59" fmla="*/ 5273489 w 7036051"/>
              <a:gd name="connsiteY59" fmla="*/ 5373945 h 5492212"/>
              <a:gd name="connsiteX60" fmla="*/ 5182701 w 7036051"/>
              <a:gd name="connsiteY60" fmla="*/ 5370075 h 5492212"/>
              <a:gd name="connsiteX61" fmla="*/ 5114856 w 7036051"/>
              <a:gd name="connsiteY61" fmla="*/ 5361037 h 5492212"/>
              <a:gd name="connsiteX62" fmla="*/ 5076532 w 7036051"/>
              <a:gd name="connsiteY62" fmla="*/ 5358612 h 5492212"/>
              <a:gd name="connsiteX63" fmla="*/ 5048954 w 7036051"/>
              <a:gd name="connsiteY63" fmla="*/ 5353915 h 5492212"/>
              <a:gd name="connsiteX64" fmla="*/ 4977087 w 7036051"/>
              <a:gd name="connsiteY64" fmla="*/ 5357736 h 5492212"/>
              <a:gd name="connsiteX65" fmla="*/ 4857261 w 7036051"/>
              <a:gd name="connsiteY65" fmla="*/ 5370659 h 5492212"/>
              <a:gd name="connsiteX66" fmla="*/ 4769845 w 7036051"/>
              <a:gd name="connsiteY66" fmla="*/ 5353264 h 5492212"/>
              <a:gd name="connsiteX67" fmla="*/ 4722220 w 7036051"/>
              <a:gd name="connsiteY67" fmla="*/ 5370534 h 5492212"/>
              <a:gd name="connsiteX68" fmla="*/ 4667552 w 7036051"/>
              <a:gd name="connsiteY68" fmla="*/ 5366753 h 5492212"/>
              <a:gd name="connsiteX69" fmla="*/ 4454472 w 7036051"/>
              <a:gd name="connsiteY69" fmla="*/ 5391442 h 5492212"/>
              <a:gd name="connsiteX70" fmla="*/ 4317219 w 7036051"/>
              <a:gd name="connsiteY70" fmla="*/ 5411554 h 5492212"/>
              <a:gd name="connsiteX71" fmla="*/ 4298346 w 7036051"/>
              <a:gd name="connsiteY71" fmla="*/ 5416146 h 5492212"/>
              <a:gd name="connsiteX72" fmla="*/ 4298228 w 7036051"/>
              <a:gd name="connsiteY72" fmla="*/ 5417983 h 5492212"/>
              <a:gd name="connsiteX73" fmla="*/ 4295233 w 7036051"/>
              <a:gd name="connsiteY73" fmla="*/ 5418735 h 5492212"/>
              <a:gd name="connsiteX74" fmla="*/ 4292799 w 7036051"/>
              <a:gd name="connsiteY74" fmla="*/ 5417494 h 5492212"/>
              <a:gd name="connsiteX75" fmla="*/ 4289225 w 7036051"/>
              <a:gd name="connsiteY75" fmla="*/ 5418364 h 5492212"/>
              <a:gd name="connsiteX76" fmla="*/ 4279515 w 7036051"/>
              <a:gd name="connsiteY76" fmla="*/ 5420247 h 5492212"/>
              <a:gd name="connsiteX77" fmla="*/ 4275872 w 7036051"/>
              <a:gd name="connsiteY77" fmla="*/ 5423890 h 5492212"/>
              <a:gd name="connsiteX78" fmla="*/ 4227055 w 7036051"/>
              <a:gd name="connsiteY78" fmla="*/ 5427466 h 5492212"/>
              <a:gd name="connsiteX79" fmla="*/ 4213123 w 7036051"/>
              <a:gd name="connsiteY79" fmla="*/ 5433155 h 5492212"/>
              <a:gd name="connsiteX80" fmla="*/ 4175436 w 7036051"/>
              <a:gd name="connsiteY80" fmla="*/ 5434156 h 5492212"/>
              <a:gd name="connsiteX81" fmla="*/ 4132856 w 7036051"/>
              <a:gd name="connsiteY81" fmla="*/ 5439937 h 5492212"/>
              <a:gd name="connsiteX82" fmla="*/ 4102333 w 7036051"/>
              <a:gd name="connsiteY82" fmla="*/ 5447021 h 5492212"/>
              <a:gd name="connsiteX83" fmla="*/ 4022159 w 7036051"/>
              <a:gd name="connsiteY83" fmla="*/ 5449566 h 5492212"/>
              <a:gd name="connsiteX84" fmla="*/ 3888224 w 7036051"/>
              <a:gd name="connsiteY84" fmla="*/ 5447312 h 5492212"/>
              <a:gd name="connsiteX85" fmla="*/ 3860026 w 7036051"/>
              <a:gd name="connsiteY85" fmla="*/ 5448274 h 5492212"/>
              <a:gd name="connsiteX86" fmla="*/ 3832796 w 7036051"/>
              <a:gd name="connsiteY86" fmla="*/ 5461349 h 5492212"/>
              <a:gd name="connsiteX87" fmla="*/ 3817485 w 7036051"/>
              <a:gd name="connsiteY87" fmla="*/ 5462797 h 5492212"/>
              <a:gd name="connsiteX88" fmla="*/ 3813676 w 7036051"/>
              <a:gd name="connsiteY88" fmla="*/ 5464379 h 5492212"/>
              <a:gd name="connsiteX89" fmla="*/ 3791563 w 7036051"/>
              <a:gd name="connsiteY89" fmla="*/ 5472259 h 5492212"/>
              <a:gd name="connsiteX90" fmla="*/ 3737858 w 7036051"/>
              <a:gd name="connsiteY90" fmla="*/ 5459331 h 5492212"/>
              <a:gd name="connsiteX91" fmla="*/ 3697716 w 7036051"/>
              <a:gd name="connsiteY91" fmla="*/ 5455539 h 5492212"/>
              <a:gd name="connsiteX92" fmla="*/ 3694487 w 7036051"/>
              <a:gd name="connsiteY92" fmla="*/ 5457193 h 5492212"/>
              <a:gd name="connsiteX93" fmla="*/ 3691779 w 7036051"/>
              <a:gd name="connsiteY93" fmla="*/ 5461582 h 5492212"/>
              <a:gd name="connsiteX94" fmla="*/ 3684442 w 7036051"/>
              <a:gd name="connsiteY94" fmla="*/ 5463086 h 5492212"/>
              <a:gd name="connsiteX95" fmla="*/ 3677129 w 7036051"/>
              <a:gd name="connsiteY95" fmla="*/ 5467898 h 5492212"/>
              <a:gd name="connsiteX96" fmla="*/ 3438897 w 7036051"/>
              <a:gd name="connsiteY96" fmla="*/ 5462195 h 5492212"/>
              <a:gd name="connsiteX97" fmla="*/ 3389756 w 7036051"/>
              <a:gd name="connsiteY97" fmla="*/ 5444428 h 5492212"/>
              <a:gd name="connsiteX98" fmla="*/ 3316666 w 7036051"/>
              <a:gd name="connsiteY98" fmla="*/ 5450736 h 5492212"/>
              <a:gd name="connsiteX99" fmla="*/ 3271894 w 7036051"/>
              <a:gd name="connsiteY99" fmla="*/ 5445907 h 5492212"/>
              <a:gd name="connsiteX100" fmla="*/ 3265228 w 7036051"/>
              <a:gd name="connsiteY100" fmla="*/ 5450024 h 5492212"/>
              <a:gd name="connsiteX101" fmla="*/ 3204017 w 7036051"/>
              <a:gd name="connsiteY101" fmla="*/ 5424552 h 5492212"/>
              <a:gd name="connsiteX102" fmla="*/ 3112867 w 7036051"/>
              <a:gd name="connsiteY102" fmla="*/ 5425473 h 5492212"/>
              <a:gd name="connsiteX103" fmla="*/ 3043809 w 7036051"/>
              <a:gd name="connsiteY103" fmla="*/ 5432293 h 5492212"/>
              <a:gd name="connsiteX104" fmla="*/ 3005211 w 7036051"/>
              <a:gd name="connsiteY104" fmla="*/ 5433472 h 5492212"/>
              <a:gd name="connsiteX105" fmla="*/ 2976986 w 7036051"/>
              <a:gd name="connsiteY105" fmla="*/ 5437264 h 5492212"/>
              <a:gd name="connsiteX106" fmla="*/ 2905879 w 7036051"/>
              <a:gd name="connsiteY106" fmla="*/ 5431128 h 5492212"/>
              <a:gd name="connsiteX107" fmla="*/ 2788318 w 7036051"/>
              <a:gd name="connsiteY107" fmla="*/ 5414358 h 5492212"/>
              <a:gd name="connsiteX108" fmla="*/ 2653590 w 7036051"/>
              <a:gd name="connsiteY108" fmla="*/ 5410111 h 5492212"/>
              <a:gd name="connsiteX109" fmla="*/ 2598481 w 7036051"/>
              <a:gd name="connsiteY109" fmla="*/ 5412114 h 5492212"/>
              <a:gd name="connsiteX110" fmla="*/ 2333897 w 7036051"/>
              <a:gd name="connsiteY110" fmla="*/ 5408505 h 5492212"/>
              <a:gd name="connsiteX111" fmla="*/ 2271841 w 7036051"/>
              <a:gd name="connsiteY111" fmla="*/ 5396433 h 5492212"/>
              <a:gd name="connsiteX112" fmla="*/ 2143705 w 7036051"/>
              <a:gd name="connsiteY112" fmla="*/ 5345095 h 5492212"/>
              <a:gd name="connsiteX113" fmla="*/ 1986408 w 7036051"/>
              <a:gd name="connsiteY113" fmla="*/ 5335524 h 5492212"/>
              <a:gd name="connsiteX114" fmla="*/ 1975333 w 7036051"/>
              <a:gd name="connsiteY114" fmla="*/ 5325099 h 5492212"/>
              <a:gd name="connsiteX115" fmla="*/ 1972441 w 7036051"/>
              <a:gd name="connsiteY115" fmla="*/ 5323775 h 5492212"/>
              <a:gd name="connsiteX116" fmla="*/ 1971497 w 7036051"/>
              <a:gd name="connsiteY116" fmla="*/ 5324412 h 5492212"/>
              <a:gd name="connsiteX117" fmla="*/ 1956886 w 7036051"/>
              <a:gd name="connsiteY117" fmla="*/ 5327069 h 5492212"/>
              <a:gd name="connsiteX118" fmla="*/ 1924833 w 7036051"/>
              <a:gd name="connsiteY118" fmla="*/ 5344911 h 5492212"/>
              <a:gd name="connsiteX119" fmla="*/ 1885856 w 7036051"/>
              <a:gd name="connsiteY119" fmla="*/ 5367299 h 5492212"/>
              <a:gd name="connsiteX120" fmla="*/ 1855937 w 7036051"/>
              <a:gd name="connsiteY120" fmla="*/ 5372820 h 5492212"/>
              <a:gd name="connsiteX121" fmla="*/ 1784500 w 7036051"/>
              <a:gd name="connsiteY121" fmla="*/ 5395926 h 5492212"/>
              <a:gd name="connsiteX122" fmla="*/ 1737998 w 7036051"/>
              <a:gd name="connsiteY122" fmla="*/ 5407426 h 5492212"/>
              <a:gd name="connsiteX123" fmla="*/ 1736716 w 7036051"/>
              <a:gd name="connsiteY123" fmla="*/ 5407939 h 5492212"/>
              <a:gd name="connsiteX124" fmla="*/ 1726742 w 7036051"/>
              <a:gd name="connsiteY124" fmla="*/ 5405934 h 5492212"/>
              <a:gd name="connsiteX125" fmla="*/ 1726849 w 7036051"/>
              <a:gd name="connsiteY125" fmla="*/ 5401221 h 5492212"/>
              <a:gd name="connsiteX126" fmla="*/ 1718134 w 7036051"/>
              <a:gd name="connsiteY126" fmla="*/ 5398128 h 5492212"/>
              <a:gd name="connsiteX127" fmla="*/ 1701063 w 7036051"/>
              <a:gd name="connsiteY127" fmla="*/ 5400545 h 5492212"/>
              <a:gd name="connsiteX128" fmla="*/ 1694634 w 7036051"/>
              <a:gd name="connsiteY128" fmla="*/ 5398728 h 5492212"/>
              <a:gd name="connsiteX129" fmla="*/ 1692270 w 7036051"/>
              <a:gd name="connsiteY129" fmla="*/ 5399053 h 5492212"/>
              <a:gd name="connsiteX130" fmla="*/ 1686657 w 7036051"/>
              <a:gd name="connsiteY130" fmla="*/ 5399247 h 5492212"/>
              <a:gd name="connsiteX131" fmla="*/ 1687479 w 7036051"/>
              <a:gd name="connsiteY131" fmla="*/ 5402165 h 5492212"/>
              <a:gd name="connsiteX132" fmla="*/ 1680969 w 7036051"/>
              <a:gd name="connsiteY132" fmla="*/ 5407963 h 5492212"/>
              <a:gd name="connsiteX133" fmla="*/ 1648682 w 7036051"/>
              <a:gd name="connsiteY133" fmla="*/ 5407558 h 5492212"/>
              <a:gd name="connsiteX134" fmla="*/ 1646819 w 7036051"/>
              <a:gd name="connsiteY134" fmla="*/ 5404306 h 5492212"/>
              <a:gd name="connsiteX135" fmla="*/ 1642743 w 7036051"/>
              <a:gd name="connsiteY135" fmla="*/ 5403927 h 5492212"/>
              <a:gd name="connsiteX136" fmla="*/ 1639788 w 7036051"/>
              <a:gd name="connsiteY136" fmla="*/ 5407135 h 5492212"/>
              <a:gd name="connsiteX137" fmla="*/ 1585803 w 7036051"/>
              <a:gd name="connsiteY137" fmla="*/ 5416574 h 5492212"/>
              <a:gd name="connsiteX138" fmla="*/ 1513331 w 7036051"/>
              <a:gd name="connsiteY138" fmla="*/ 5423805 h 5492212"/>
              <a:gd name="connsiteX139" fmla="*/ 1460734 w 7036051"/>
              <a:gd name="connsiteY139" fmla="*/ 5411778 h 5492212"/>
              <a:gd name="connsiteX140" fmla="*/ 1456045 w 7036051"/>
              <a:gd name="connsiteY140" fmla="*/ 5414928 h 5492212"/>
              <a:gd name="connsiteX141" fmla="*/ 1419653 w 7036051"/>
              <a:gd name="connsiteY141" fmla="*/ 5415060 h 5492212"/>
              <a:gd name="connsiteX142" fmla="*/ 1292605 w 7036051"/>
              <a:gd name="connsiteY142" fmla="*/ 5394671 h 5492212"/>
              <a:gd name="connsiteX143" fmla="*/ 1221477 w 7036051"/>
              <a:gd name="connsiteY143" fmla="*/ 5395509 h 5492212"/>
              <a:gd name="connsiteX144" fmla="*/ 1196159 w 7036051"/>
              <a:gd name="connsiteY144" fmla="*/ 5399169 h 5492212"/>
              <a:gd name="connsiteX145" fmla="*/ 1153748 w 7036051"/>
              <a:gd name="connsiteY145" fmla="*/ 5405093 h 5492212"/>
              <a:gd name="connsiteX146" fmla="*/ 1121874 w 7036051"/>
              <a:gd name="connsiteY146" fmla="*/ 5417803 h 5492212"/>
              <a:gd name="connsiteX147" fmla="*/ 1086481 w 7036051"/>
              <a:gd name="connsiteY147" fmla="*/ 5419474 h 5492212"/>
              <a:gd name="connsiteX148" fmla="*/ 1078485 w 7036051"/>
              <a:gd name="connsiteY148" fmla="*/ 5409150 h 5492212"/>
              <a:gd name="connsiteX149" fmla="*/ 1040550 w 7036051"/>
              <a:gd name="connsiteY149" fmla="*/ 5414415 h 5492212"/>
              <a:gd name="connsiteX150" fmla="*/ 982981 w 7036051"/>
              <a:gd name="connsiteY150" fmla="*/ 5423575 h 5492212"/>
              <a:gd name="connsiteX151" fmla="*/ 949836 w 7036051"/>
              <a:gd name="connsiteY151" fmla="*/ 5426093 h 5492212"/>
              <a:gd name="connsiteX152" fmla="*/ 859237 w 7036051"/>
              <a:gd name="connsiteY152" fmla="*/ 5435973 h 5492212"/>
              <a:gd name="connsiteX153" fmla="*/ 768445 w 7036051"/>
              <a:gd name="connsiteY153" fmla="*/ 5448159 h 5492212"/>
              <a:gd name="connsiteX154" fmla="*/ 714393 w 7036051"/>
              <a:gd name="connsiteY154" fmla="*/ 5468302 h 5492212"/>
              <a:gd name="connsiteX155" fmla="*/ 639791 w 7036051"/>
              <a:gd name="connsiteY155" fmla="*/ 5476924 h 5492212"/>
              <a:gd name="connsiteX156" fmla="*/ 627266 w 7036051"/>
              <a:gd name="connsiteY156" fmla="*/ 5480260 h 5492212"/>
              <a:gd name="connsiteX157" fmla="*/ 609977 w 7036051"/>
              <a:gd name="connsiteY157" fmla="*/ 5478891 h 5492212"/>
              <a:gd name="connsiteX158" fmla="*/ 540688 w 7036051"/>
              <a:gd name="connsiteY158" fmla="*/ 5472807 h 5492212"/>
              <a:gd name="connsiteX159" fmla="*/ 486194 w 7036051"/>
              <a:gd name="connsiteY159" fmla="*/ 5462661 h 5492212"/>
              <a:gd name="connsiteX160" fmla="*/ 418164 w 7036051"/>
              <a:gd name="connsiteY160" fmla="*/ 5472485 h 5492212"/>
              <a:gd name="connsiteX161" fmla="*/ 376724 w 7036051"/>
              <a:gd name="connsiteY161" fmla="*/ 5470967 h 5492212"/>
              <a:gd name="connsiteX162" fmla="*/ 308908 w 7036051"/>
              <a:gd name="connsiteY162" fmla="*/ 5457025 h 5492212"/>
              <a:gd name="connsiteX163" fmla="*/ 219416 w 7036051"/>
              <a:gd name="connsiteY163" fmla="*/ 5463995 h 5492212"/>
              <a:gd name="connsiteX164" fmla="*/ 200977 w 7036051"/>
              <a:gd name="connsiteY164" fmla="*/ 5480608 h 5492212"/>
              <a:gd name="connsiteX165" fmla="*/ 176226 w 7036051"/>
              <a:gd name="connsiteY165" fmla="*/ 5491022 h 5492212"/>
              <a:gd name="connsiteX166" fmla="*/ 165702 w 7036051"/>
              <a:gd name="connsiteY166" fmla="*/ 5468604 h 5492212"/>
              <a:gd name="connsiteX167" fmla="*/ 88282 w 7036051"/>
              <a:gd name="connsiteY167" fmla="*/ 5453658 h 5492212"/>
              <a:gd name="connsiteX168" fmla="*/ 49602 w 7036051"/>
              <a:gd name="connsiteY168" fmla="*/ 5448762 h 5492212"/>
              <a:gd name="connsiteX169" fmla="*/ 22844 w 7036051"/>
              <a:gd name="connsiteY169" fmla="*/ 5450459 h 5492212"/>
              <a:gd name="connsiteX170" fmla="*/ 0 w 7036051"/>
              <a:gd name="connsiteY170" fmla="*/ 5447653 h 54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7036051" h="5492212">
                <a:moveTo>
                  <a:pt x="0" y="0"/>
                </a:moveTo>
                <a:lnTo>
                  <a:pt x="7036051" y="0"/>
                </a:lnTo>
                <a:lnTo>
                  <a:pt x="7036051" y="5163846"/>
                </a:lnTo>
                <a:lnTo>
                  <a:pt x="7012593" y="5176898"/>
                </a:lnTo>
                <a:cubicBezTo>
                  <a:pt x="7010768" y="5193373"/>
                  <a:pt x="6968133" y="5178026"/>
                  <a:pt x="6958601" y="5204359"/>
                </a:cubicBezTo>
                <a:cubicBezTo>
                  <a:pt x="6956255" y="5203750"/>
                  <a:pt x="6953771" y="5203373"/>
                  <a:pt x="6951226" y="5203241"/>
                </a:cubicBezTo>
                <a:cubicBezTo>
                  <a:pt x="6936441" y="5202478"/>
                  <a:pt x="6922846" y="5209982"/>
                  <a:pt x="6920864" y="5220003"/>
                </a:cubicBezTo>
                <a:cubicBezTo>
                  <a:pt x="6902003" y="5258795"/>
                  <a:pt x="6863469" y="5243876"/>
                  <a:pt x="6834841" y="5266115"/>
                </a:cubicBezTo>
                <a:cubicBezTo>
                  <a:pt x="6800315" y="5289373"/>
                  <a:pt x="6805780" y="5289922"/>
                  <a:pt x="6777937" y="5332502"/>
                </a:cubicBezTo>
                <a:cubicBezTo>
                  <a:pt x="6765321" y="5328518"/>
                  <a:pt x="6759096" y="5331534"/>
                  <a:pt x="6752874" y="5340428"/>
                </a:cubicBezTo>
                <a:cubicBezTo>
                  <a:pt x="6735526" y="5351218"/>
                  <a:pt x="6717730" y="5333264"/>
                  <a:pt x="6711115" y="5353924"/>
                </a:cubicBezTo>
                <a:cubicBezTo>
                  <a:pt x="6709352" y="5351156"/>
                  <a:pt x="6706090" y="5350761"/>
                  <a:pt x="6702149" y="5351500"/>
                </a:cubicBezTo>
                <a:lnTo>
                  <a:pt x="6698458" y="5352743"/>
                </a:lnTo>
                <a:lnTo>
                  <a:pt x="6698049" y="5352570"/>
                </a:lnTo>
                <a:lnTo>
                  <a:pt x="6697297" y="5353134"/>
                </a:lnTo>
                <a:lnTo>
                  <a:pt x="6689118" y="5355890"/>
                </a:lnTo>
                <a:cubicBezTo>
                  <a:pt x="6680171" y="5359440"/>
                  <a:pt x="6671805" y="5362584"/>
                  <a:pt x="6670605" y="5355427"/>
                </a:cubicBezTo>
                <a:cubicBezTo>
                  <a:pt x="6665330" y="5354991"/>
                  <a:pt x="6661976" y="5355734"/>
                  <a:pt x="6659606" y="5357084"/>
                </a:cubicBezTo>
                <a:cubicBezTo>
                  <a:pt x="6654864" y="5359782"/>
                  <a:pt x="6654050" y="5364908"/>
                  <a:pt x="6649636" y="5367869"/>
                </a:cubicBezTo>
                <a:lnTo>
                  <a:pt x="6642159" y="5369506"/>
                </a:lnTo>
                <a:lnTo>
                  <a:pt x="6640764" y="5370991"/>
                </a:lnTo>
                <a:lnTo>
                  <a:pt x="6636665" y="5374002"/>
                </a:lnTo>
                <a:lnTo>
                  <a:pt x="6641287" y="5376181"/>
                </a:lnTo>
                <a:cubicBezTo>
                  <a:pt x="6646080" y="5377976"/>
                  <a:pt x="6597903" y="5386514"/>
                  <a:pt x="6591018" y="5390981"/>
                </a:cubicBezTo>
                <a:lnTo>
                  <a:pt x="6548326" y="5403583"/>
                </a:lnTo>
                <a:lnTo>
                  <a:pt x="6472868" y="5394733"/>
                </a:lnTo>
                <a:cubicBezTo>
                  <a:pt x="6457699" y="5415896"/>
                  <a:pt x="6417760" y="5410703"/>
                  <a:pt x="6401194" y="5422870"/>
                </a:cubicBezTo>
                <a:lnTo>
                  <a:pt x="6381961" y="5422940"/>
                </a:lnTo>
                <a:lnTo>
                  <a:pt x="6363834" y="5417751"/>
                </a:lnTo>
                <a:lnTo>
                  <a:pt x="6363997" y="5415912"/>
                </a:lnTo>
                <a:cubicBezTo>
                  <a:pt x="6363602" y="5414702"/>
                  <a:pt x="6362617" y="5414594"/>
                  <a:pt x="6361124" y="5415066"/>
                </a:cubicBezTo>
                <a:lnTo>
                  <a:pt x="6358507" y="5416224"/>
                </a:lnTo>
                <a:lnTo>
                  <a:pt x="6355073" y="5415242"/>
                </a:lnTo>
                <a:lnTo>
                  <a:pt x="6345676" y="5413049"/>
                </a:lnTo>
                <a:lnTo>
                  <a:pt x="6342596" y="5409297"/>
                </a:lnTo>
                <a:cubicBezTo>
                  <a:pt x="6333502" y="5403420"/>
                  <a:pt x="6312379" y="5410664"/>
                  <a:pt x="6305742" y="5401622"/>
                </a:cubicBezTo>
                <a:lnTo>
                  <a:pt x="6294445" y="5404149"/>
                </a:lnTo>
                <a:lnTo>
                  <a:pt x="6281414" y="5398024"/>
                </a:lnTo>
                <a:cubicBezTo>
                  <a:pt x="6269392" y="5392983"/>
                  <a:pt x="6257013" y="5390092"/>
                  <a:pt x="6243972" y="5395807"/>
                </a:cubicBezTo>
                <a:cubicBezTo>
                  <a:pt x="6248312" y="5382942"/>
                  <a:pt x="6211634" y="5399629"/>
                  <a:pt x="6202379" y="5388661"/>
                </a:cubicBezTo>
                <a:cubicBezTo>
                  <a:pt x="6196568" y="5379556"/>
                  <a:pt x="6184084" y="5382499"/>
                  <a:pt x="6173010" y="5380606"/>
                </a:cubicBezTo>
                <a:cubicBezTo>
                  <a:pt x="6162384" y="5372079"/>
                  <a:pt x="6109972" y="5371285"/>
                  <a:pt x="6093421" y="5375473"/>
                </a:cubicBezTo>
                <a:cubicBezTo>
                  <a:pt x="6048943" y="5392971"/>
                  <a:pt x="5995413" y="5360396"/>
                  <a:pt x="5959474" y="5373386"/>
                </a:cubicBezTo>
                <a:cubicBezTo>
                  <a:pt x="5949048" y="5374123"/>
                  <a:pt x="5939860" y="5373301"/>
                  <a:pt x="5931492" y="5371513"/>
                </a:cubicBezTo>
                <a:lnTo>
                  <a:pt x="5909558" y="5364228"/>
                </a:lnTo>
                <a:lnTo>
                  <a:pt x="5906319" y="5357590"/>
                </a:lnTo>
                <a:lnTo>
                  <a:pt x="5891268" y="5355650"/>
                </a:lnTo>
                <a:lnTo>
                  <a:pt x="5887711" y="5353947"/>
                </a:lnTo>
                <a:cubicBezTo>
                  <a:pt x="5880924" y="5350671"/>
                  <a:pt x="5874113" y="5347614"/>
                  <a:pt x="5866852" y="5345374"/>
                </a:cubicBezTo>
                <a:cubicBezTo>
                  <a:pt x="5859911" y="5373405"/>
                  <a:pt x="5803959" y="5330929"/>
                  <a:pt x="5811310" y="5356530"/>
                </a:cubicBezTo>
                <a:cubicBezTo>
                  <a:pt x="5780489" y="5350949"/>
                  <a:pt x="5782784" y="5364359"/>
                  <a:pt x="5770689" y="5359014"/>
                </a:cubicBezTo>
                <a:lnTo>
                  <a:pt x="5767719" y="5357260"/>
                </a:lnTo>
                <a:lnTo>
                  <a:pt x="5765688" y="5352793"/>
                </a:lnTo>
                <a:lnTo>
                  <a:pt x="5758598" y="5351053"/>
                </a:lnTo>
                <a:lnTo>
                  <a:pt x="5752036" y="5346019"/>
                </a:lnTo>
                <a:cubicBezTo>
                  <a:pt x="5676031" y="5353035"/>
                  <a:pt x="5573285" y="5304575"/>
                  <a:pt x="5503590" y="5325537"/>
                </a:cubicBezTo>
                <a:lnTo>
                  <a:pt x="5389848" y="5351472"/>
                </a:lnTo>
                <a:cubicBezTo>
                  <a:pt x="5378275" y="5360535"/>
                  <a:pt x="5357949" y="5362044"/>
                  <a:pt x="5344450" y="5354840"/>
                </a:cubicBezTo>
                <a:cubicBezTo>
                  <a:pt x="5342129" y="5353601"/>
                  <a:pt x="5340101" y="5352144"/>
                  <a:pt x="5338428" y="5350516"/>
                </a:cubicBezTo>
                <a:cubicBezTo>
                  <a:pt x="5303858" y="5372450"/>
                  <a:pt x="5291134" y="5358414"/>
                  <a:pt x="5273489" y="5373945"/>
                </a:cubicBezTo>
                <a:cubicBezTo>
                  <a:pt x="5228455" y="5376430"/>
                  <a:pt x="5198895" y="5356533"/>
                  <a:pt x="5182701" y="5370075"/>
                </a:cubicBezTo>
                <a:cubicBezTo>
                  <a:pt x="5161004" y="5366959"/>
                  <a:pt x="5136154" y="5346791"/>
                  <a:pt x="5114856" y="5361037"/>
                </a:cubicBezTo>
                <a:cubicBezTo>
                  <a:pt x="5116518" y="5347803"/>
                  <a:pt x="5086668" y="5368445"/>
                  <a:pt x="5076532" y="5358612"/>
                </a:cubicBezTo>
                <a:cubicBezTo>
                  <a:pt x="5069788" y="5350240"/>
                  <a:pt x="5059157" y="5354551"/>
                  <a:pt x="5048954" y="5353915"/>
                </a:cubicBezTo>
                <a:cubicBezTo>
                  <a:pt x="5038015" y="5346654"/>
                  <a:pt x="4991132" y="5351733"/>
                  <a:pt x="4977087" y="5357736"/>
                </a:cubicBezTo>
                <a:cubicBezTo>
                  <a:pt x="4940420" y="5380054"/>
                  <a:pt x="4887089" y="5353763"/>
                  <a:pt x="4857261" y="5370659"/>
                </a:cubicBezTo>
                <a:cubicBezTo>
                  <a:pt x="4820568" y="5378246"/>
                  <a:pt x="4797284" y="5358899"/>
                  <a:pt x="4769845" y="5353264"/>
                </a:cubicBezTo>
                <a:cubicBezTo>
                  <a:pt x="4768462" y="5381819"/>
                  <a:pt x="4711275" y="5345988"/>
                  <a:pt x="4722220" y="5370534"/>
                </a:cubicBezTo>
                <a:cubicBezTo>
                  <a:pt x="4684293" y="5367762"/>
                  <a:pt x="4704662" y="5391854"/>
                  <a:pt x="4667552" y="5366753"/>
                </a:cubicBezTo>
                <a:cubicBezTo>
                  <a:pt x="4600967" y="5382212"/>
                  <a:pt x="4513038" y="5362869"/>
                  <a:pt x="4454472" y="5391442"/>
                </a:cubicBezTo>
                <a:lnTo>
                  <a:pt x="4317219" y="5411554"/>
                </a:lnTo>
                <a:lnTo>
                  <a:pt x="4298346" y="5416146"/>
                </a:lnTo>
                <a:cubicBezTo>
                  <a:pt x="4298306" y="5416758"/>
                  <a:pt x="4298267" y="5417371"/>
                  <a:pt x="4298228" y="5417983"/>
                </a:cubicBezTo>
                <a:cubicBezTo>
                  <a:pt x="4297649" y="5419178"/>
                  <a:pt x="4296651" y="5419253"/>
                  <a:pt x="4295233" y="5418735"/>
                </a:cubicBezTo>
                <a:lnTo>
                  <a:pt x="4292799" y="5417494"/>
                </a:lnTo>
                <a:lnTo>
                  <a:pt x="4289225" y="5418364"/>
                </a:lnTo>
                <a:lnTo>
                  <a:pt x="4279515" y="5420247"/>
                </a:lnTo>
                <a:lnTo>
                  <a:pt x="4275872" y="5423890"/>
                </a:lnTo>
                <a:lnTo>
                  <a:pt x="4227055" y="5427466"/>
                </a:lnTo>
                <a:lnTo>
                  <a:pt x="4213123" y="5433155"/>
                </a:lnTo>
                <a:cubicBezTo>
                  <a:pt x="4200364" y="5437794"/>
                  <a:pt x="4187574" y="5440279"/>
                  <a:pt x="4175436" y="5434156"/>
                </a:cubicBezTo>
                <a:cubicBezTo>
                  <a:pt x="4177805" y="5447129"/>
                  <a:pt x="4143760" y="5429295"/>
                  <a:pt x="4132856" y="5439937"/>
                </a:cubicBezTo>
                <a:cubicBezTo>
                  <a:pt x="4125673" y="5448831"/>
                  <a:pt x="4113669" y="5445492"/>
                  <a:pt x="4102333" y="5447021"/>
                </a:cubicBezTo>
                <a:cubicBezTo>
                  <a:pt x="4090434" y="5455185"/>
                  <a:pt x="4038031" y="5454280"/>
                  <a:pt x="4022159" y="5449566"/>
                </a:cubicBezTo>
                <a:cubicBezTo>
                  <a:pt x="3980455" y="5430671"/>
                  <a:pt x="3922096" y="5461433"/>
                  <a:pt x="3888224" y="5447312"/>
                </a:cubicBezTo>
                <a:cubicBezTo>
                  <a:pt x="3877937" y="5446239"/>
                  <a:pt x="3868647" y="5446763"/>
                  <a:pt x="3860026" y="5448274"/>
                </a:cubicBezTo>
                <a:lnTo>
                  <a:pt x="3832796" y="5461349"/>
                </a:lnTo>
                <a:lnTo>
                  <a:pt x="3817485" y="5462797"/>
                </a:lnTo>
                <a:lnTo>
                  <a:pt x="3813676" y="5464379"/>
                </a:lnTo>
                <a:cubicBezTo>
                  <a:pt x="3806407" y="5467429"/>
                  <a:pt x="3799147" y="5470257"/>
                  <a:pt x="3791563" y="5472259"/>
                </a:cubicBezTo>
                <a:cubicBezTo>
                  <a:pt x="3788910" y="5444072"/>
                  <a:pt x="3726624" y="5484631"/>
                  <a:pt x="3737858" y="5459331"/>
                </a:cubicBezTo>
                <a:cubicBezTo>
                  <a:pt x="3706262" y="5463900"/>
                  <a:pt x="3710598" y="5450598"/>
                  <a:pt x="3697716" y="5455539"/>
                </a:cubicBezTo>
                <a:lnTo>
                  <a:pt x="3694487" y="5457193"/>
                </a:lnTo>
                <a:lnTo>
                  <a:pt x="3691779" y="5461582"/>
                </a:lnTo>
                <a:lnTo>
                  <a:pt x="3684442" y="5463086"/>
                </a:lnTo>
                <a:lnTo>
                  <a:pt x="3677129" y="5467898"/>
                </a:lnTo>
                <a:cubicBezTo>
                  <a:pt x="3602381" y="5458439"/>
                  <a:pt x="3505226" y="5485361"/>
                  <a:pt x="3438897" y="5462195"/>
                </a:cubicBezTo>
                <a:lnTo>
                  <a:pt x="3389756" y="5444428"/>
                </a:lnTo>
                <a:cubicBezTo>
                  <a:pt x="3364455" y="5437704"/>
                  <a:pt x="3342081" y="5466704"/>
                  <a:pt x="3316666" y="5450736"/>
                </a:cubicBezTo>
                <a:cubicBezTo>
                  <a:pt x="3306503" y="5441319"/>
                  <a:pt x="3286457" y="5439158"/>
                  <a:pt x="3271894" y="5445907"/>
                </a:cubicBezTo>
                <a:cubicBezTo>
                  <a:pt x="3269388" y="5447068"/>
                  <a:pt x="3267143" y="5448455"/>
                  <a:pt x="3265228" y="5450024"/>
                </a:cubicBezTo>
                <a:cubicBezTo>
                  <a:pt x="3234084" y="5427025"/>
                  <a:pt x="3219254" y="5440615"/>
                  <a:pt x="3204017" y="5424552"/>
                </a:cubicBezTo>
                <a:cubicBezTo>
                  <a:pt x="3159473" y="5420614"/>
                  <a:pt x="3126956" y="5439505"/>
                  <a:pt x="3112867" y="5425473"/>
                </a:cubicBezTo>
                <a:cubicBezTo>
                  <a:pt x="3090747" y="5427880"/>
                  <a:pt x="3062886" y="5447193"/>
                  <a:pt x="3043809" y="5432293"/>
                </a:cubicBezTo>
                <a:cubicBezTo>
                  <a:pt x="3043452" y="5445549"/>
                  <a:pt x="3016821" y="5423991"/>
                  <a:pt x="3005211" y="5433472"/>
                </a:cubicBezTo>
                <a:cubicBezTo>
                  <a:pt x="2997207" y="5441605"/>
                  <a:pt x="2987260" y="5436961"/>
                  <a:pt x="2976986" y="5437264"/>
                </a:cubicBezTo>
                <a:cubicBezTo>
                  <a:pt x="2964968" y="5444153"/>
                  <a:pt x="2918975" y="5437570"/>
                  <a:pt x="2905879" y="5431128"/>
                </a:cubicBezTo>
                <a:cubicBezTo>
                  <a:pt x="2872703" y="5407678"/>
                  <a:pt x="2815496" y="5432178"/>
                  <a:pt x="2788318" y="5414358"/>
                </a:cubicBezTo>
                <a:cubicBezTo>
                  <a:pt x="2746271" y="5410854"/>
                  <a:pt x="2685231" y="5410484"/>
                  <a:pt x="2653590" y="5410111"/>
                </a:cubicBezTo>
                <a:cubicBezTo>
                  <a:pt x="2615334" y="5411650"/>
                  <a:pt x="2639324" y="5388277"/>
                  <a:pt x="2598481" y="5412114"/>
                </a:cubicBezTo>
                <a:cubicBezTo>
                  <a:pt x="2534415" y="5394537"/>
                  <a:pt x="2387966" y="5438902"/>
                  <a:pt x="2333897" y="5408505"/>
                </a:cubicBezTo>
                <a:cubicBezTo>
                  <a:pt x="2279458" y="5405891"/>
                  <a:pt x="2312839" y="5402348"/>
                  <a:pt x="2271841" y="5396433"/>
                </a:cubicBezTo>
                <a:cubicBezTo>
                  <a:pt x="2263465" y="5363868"/>
                  <a:pt x="2168184" y="5361433"/>
                  <a:pt x="2143705" y="5345095"/>
                </a:cubicBezTo>
                <a:cubicBezTo>
                  <a:pt x="2087043" y="5343333"/>
                  <a:pt x="2041689" y="5319742"/>
                  <a:pt x="1986408" y="5335524"/>
                </a:cubicBezTo>
                <a:cubicBezTo>
                  <a:pt x="1983594" y="5331315"/>
                  <a:pt x="1979798" y="5327915"/>
                  <a:pt x="1975333" y="5325099"/>
                </a:cubicBezTo>
                <a:lnTo>
                  <a:pt x="1972441" y="5323775"/>
                </a:lnTo>
                <a:lnTo>
                  <a:pt x="1971497" y="5324412"/>
                </a:lnTo>
                <a:cubicBezTo>
                  <a:pt x="1967825" y="5325937"/>
                  <a:pt x="1963255" y="5326871"/>
                  <a:pt x="1956886" y="5327069"/>
                </a:cubicBezTo>
                <a:cubicBezTo>
                  <a:pt x="1957692" y="5357103"/>
                  <a:pt x="1944755" y="5337483"/>
                  <a:pt x="1924833" y="5344911"/>
                </a:cubicBezTo>
                <a:cubicBezTo>
                  <a:pt x="1907350" y="5349449"/>
                  <a:pt x="1899872" y="5360515"/>
                  <a:pt x="1885856" y="5367299"/>
                </a:cubicBezTo>
                <a:cubicBezTo>
                  <a:pt x="1874373" y="5371950"/>
                  <a:pt x="1870677" y="5363227"/>
                  <a:pt x="1855937" y="5372820"/>
                </a:cubicBezTo>
                <a:cubicBezTo>
                  <a:pt x="1826799" y="5367486"/>
                  <a:pt x="1805938" y="5389998"/>
                  <a:pt x="1784500" y="5395926"/>
                </a:cubicBezTo>
                <a:cubicBezTo>
                  <a:pt x="1777473" y="5395836"/>
                  <a:pt x="1756895" y="5401012"/>
                  <a:pt x="1737998" y="5407426"/>
                </a:cubicBezTo>
                <a:lnTo>
                  <a:pt x="1736716" y="5407939"/>
                </a:lnTo>
                <a:lnTo>
                  <a:pt x="1726742" y="5405934"/>
                </a:lnTo>
                <a:cubicBezTo>
                  <a:pt x="1724249" y="5404894"/>
                  <a:pt x="1723700" y="5403454"/>
                  <a:pt x="1726849" y="5401221"/>
                </a:cubicBezTo>
                <a:cubicBezTo>
                  <a:pt x="1723886" y="5399045"/>
                  <a:pt x="1720993" y="5398236"/>
                  <a:pt x="1718134" y="5398128"/>
                </a:cubicBezTo>
                <a:cubicBezTo>
                  <a:pt x="1712416" y="5397910"/>
                  <a:pt x="1706830" y="5400494"/>
                  <a:pt x="1701063" y="5400545"/>
                </a:cubicBezTo>
                <a:lnTo>
                  <a:pt x="1694634" y="5398728"/>
                </a:lnTo>
                <a:lnTo>
                  <a:pt x="1692270" y="5399053"/>
                </a:lnTo>
                <a:lnTo>
                  <a:pt x="1686657" y="5399247"/>
                </a:lnTo>
                <a:lnTo>
                  <a:pt x="1687479" y="5402165"/>
                </a:lnTo>
                <a:cubicBezTo>
                  <a:pt x="1688791" y="5404927"/>
                  <a:pt x="1689812" y="5407972"/>
                  <a:pt x="1680969" y="5407963"/>
                </a:cubicBezTo>
                <a:cubicBezTo>
                  <a:pt x="1662599" y="5406532"/>
                  <a:pt x="1656841" y="5418932"/>
                  <a:pt x="1648682" y="5407558"/>
                </a:cubicBezTo>
                <a:lnTo>
                  <a:pt x="1646819" y="5404306"/>
                </a:lnTo>
                <a:lnTo>
                  <a:pt x="1642743" y="5403927"/>
                </a:lnTo>
                <a:cubicBezTo>
                  <a:pt x="1640569" y="5404120"/>
                  <a:pt x="1639361" y="5404983"/>
                  <a:pt x="1639788" y="5407135"/>
                </a:cubicBezTo>
                <a:cubicBezTo>
                  <a:pt x="1622347" y="5398881"/>
                  <a:pt x="1603063" y="5413406"/>
                  <a:pt x="1585803" y="5416574"/>
                </a:cubicBezTo>
                <a:cubicBezTo>
                  <a:pt x="1572467" y="5408520"/>
                  <a:pt x="1549407" y="5423110"/>
                  <a:pt x="1513331" y="5423805"/>
                </a:cubicBezTo>
                <a:cubicBezTo>
                  <a:pt x="1498774" y="5414520"/>
                  <a:pt x="1489007" y="5424393"/>
                  <a:pt x="1460734" y="5411778"/>
                </a:cubicBezTo>
                <a:cubicBezTo>
                  <a:pt x="1459446" y="5412932"/>
                  <a:pt x="1457867" y="5413992"/>
                  <a:pt x="1456045" y="5414928"/>
                </a:cubicBezTo>
                <a:cubicBezTo>
                  <a:pt x="1445460" y="5420354"/>
                  <a:pt x="1429166" y="5420415"/>
                  <a:pt x="1419653" y="5415060"/>
                </a:cubicBezTo>
                <a:cubicBezTo>
                  <a:pt x="1374353" y="5398095"/>
                  <a:pt x="1332064" y="5398411"/>
                  <a:pt x="1292605" y="5394671"/>
                </a:cubicBezTo>
                <a:cubicBezTo>
                  <a:pt x="1247867" y="5392301"/>
                  <a:pt x="1276603" y="5411730"/>
                  <a:pt x="1221477" y="5395509"/>
                </a:cubicBezTo>
                <a:cubicBezTo>
                  <a:pt x="1215107" y="5402140"/>
                  <a:pt x="1207983" y="5402421"/>
                  <a:pt x="1196159" y="5399169"/>
                </a:cubicBezTo>
                <a:cubicBezTo>
                  <a:pt x="1174396" y="5398516"/>
                  <a:pt x="1175280" y="5415282"/>
                  <a:pt x="1153748" y="5405093"/>
                </a:cubicBezTo>
                <a:cubicBezTo>
                  <a:pt x="1157267" y="5414115"/>
                  <a:pt x="1112247" y="5408398"/>
                  <a:pt x="1121874" y="5417803"/>
                </a:cubicBezTo>
                <a:cubicBezTo>
                  <a:pt x="1107293" y="5425943"/>
                  <a:pt x="1100911" y="5412406"/>
                  <a:pt x="1086481" y="5419474"/>
                </a:cubicBezTo>
                <a:cubicBezTo>
                  <a:pt x="1070504" y="5421068"/>
                  <a:pt x="1096054" y="5409890"/>
                  <a:pt x="1078485" y="5409150"/>
                </a:cubicBezTo>
                <a:cubicBezTo>
                  <a:pt x="1057107" y="5409880"/>
                  <a:pt x="1057916" y="5393370"/>
                  <a:pt x="1040550" y="5414415"/>
                </a:cubicBezTo>
                <a:cubicBezTo>
                  <a:pt x="1018445" y="5409298"/>
                  <a:pt x="1013694" y="5418764"/>
                  <a:pt x="982981" y="5423575"/>
                </a:cubicBezTo>
                <a:cubicBezTo>
                  <a:pt x="970423" y="5418342"/>
                  <a:pt x="960063" y="5420960"/>
                  <a:pt x="949836" y="5426093"/>
                </a:cubicBezTo>
                <a:cubicBezTo>
                  <a:pt x="920168" y="5424861"/>
                  <a:pt x="892764" y="5432710"/>
                  <a:pt x="859237" y="5435973"/>
                </a:cubicBezTo>
                <a:cubicBezTo>
                  <a:pt x="823344" y="5430160"/>
                  <a:pt x="804272" y="5444731"/>
                  <a:pt x="768445" y="5448159"/>
                </a:cubicBezTo>
                <a:cubicBezTo>
                  <a:pt x="733630" y="5434899"/>
                  <a:pt x="744432" y="5468566"/>
                  <a:pt x="714393" y="5468302"/>
                </a:cubicBezTo>
                <a:cubicBezTo>
                  <a:pt x="665910" y="5456640"/>
                  <a:pt x="715197" y="5479526"/>
                  <a:pt x="639791" y="5476924"/>
                </a:cubicBezTo>
                <a:cubicBezTo>
                  <a:pt x="635590" y="5474880"/>
                  <a:pt x="626375" y="5477333"/>
                  <a:pt x="627266" y="5480260"/>
                </a:cubicBezTo>
                <a:cubicBezTo>
                  <a:pt x="622501" y="5479477"/>
                  <a:pt x="611196" y="5474127"/>
                  <a:pt x="609977" y="5478891"/>
                </a:cubicBezTo>
                <a:cubicBezTo>
                  <a:pt x="585928" y="5480121"/>
                  <a:pt x="562064" y="5478026"/>
                  <a:pt x="540688" y="5472807"/>
                </a:cubicBezTo>
                <a:cubicBezTo>
                  <a:pt x="494260" y="5482226"/>
                  <a:pt x="519722" y="5459453"/>
                  <a:pt x="486194" y="5462661"/>
                </a:cubicBezTo>
                <a:cubicBezTo>
                  <a:pt x="459222" y="5472731"/>
                  <a:pt x="449283" y="5465413"/>
                  <a:pt x="418164" y="5472485"/>
                </a:cubicBezTo>
                <a:cubicBezTo>
                  <a:pt x="407504" y="5457469"/>
                  <a:pt x="388899" y="5474930"/>
                  <a:pt x="376724" y="5470967"/>
                </a:cubicBezTo>
                <a:cubicBezTo>
                  <a:pt x="357541" y="5489409"/>
                  <a:pt x="329120" y="5456071"/>
                  <a:pt x="308908" y="5457025"/>
                </a:cubicBezTo>
                <a:cubicBezTo>
                  <a:pt x="274916" y="5461376"/>
                  <a:pt x="238368" y="5480973"/>
                  <a:pt x="219416" y="5463995"/>
                </a:cubicBezTo>
                <a:cubicBezTo>
                  <a:pt x="217077" y="5471389"/>
                  <a:pt x="220429" y="5481203"/>
                  <a:pt x="200977" y="5480608"/>
                </a:cubicBezTo>
                <a:cubicBezTo>
                  <a:pt x="193315" y="5484612"/>
                  <a:pt x="192227" y="5495868"/>
                  <a:pt x="176226" y="5491022"/>
                </a:cubicBezTo>
                <a:cubicBezTo>
                  <a:pt x="195501" y="5480307"/>
                  <a:pt x="163065" y="5480325"/>
                  <a:pt x="165702" y="5468604"/>
                </a:cubicBezTo>
                <a:cubicBezTo>
                  <a:pt x="141228" y="5462364"/>
                  <a:pt x="86026" y="5474606"/>
                  <a:pt x="88282" y="5453658"/>
                </a:cubicBezTo>
                <a:cubicBezTo>
                  <a:pt x="80722" y="5441690"/>
                  <a:pt x="50300" y="5462007"/>
                  <a:pt x="49602" y="5448762"/>
                </a:cubicBezTo>
                <a:cubicBezTo>
                  <a:pt x="42967" y="5453333"/>
                  <a:pt x="33469" y="5452380"/>
                  <a:pt x="22844" y="5450459"/>
                </a:cubicBezTo>
                <a:lnTo>
                  <a:pt x="0" y="5447653"/>
                </a:lnTo>
                <a:close/>
              </a:path>
            </a:pathLst>
          </a:custGeom>
          <a:solidFill>
            <a:schemeClr val="bg1"/>
          </a:solidFill>
          <a:ln>
            <a:noFill/>
          </a:ln>
          <a:effectLst>
            <a:outerShdw blurRad="50800" dist="254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DCD6552F-C98B-4FBA-842F-3EF2D5ACA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910" y="832389"/>
            <a:ext cx="10085006" cy="7811146"/>
          </a:xfrm>
          <a:custGeom>
            <a:avLst/>
            <a:gdLst>
              <a:gd name="connsiteX0" fmla="*/ 0 w 7036051"/>
              <a:gd name="connsiteY0" fmla="*/ 0 h 5492212"/>
              <a:gd name="connsiteX1" fmla="*/ 7036051 w 7036051"/>
              <a:gd name="connsiteY1" fmla="*/ 0 h 5492212"/>
              <a:gd name="connsiteX2" fmla="*/ 7036051 w 7036051"/>
              <a:gd name="connsiteY2" fmla="*/ 5163846 h 5492212"/>
              <a:gd name="connsiteX3" fmla="*/ 7012593 w 7036051"/>
              <a:gd name="connsiteY3" fmla="*/ 5176898 h 5492212"/>
              <a:gd name="connsiteX4" fmla="*/ 6958601 w 7036051"/>
              <a:gd name="connsiteY4" fmla="*/ 5204359 h 5492212"/>
              <a:gd name="connsiteX5" fmla="*/ 6951226 w 7036051"/>
              <a:gd name="connsiteY5" fmla="*/ 5203241 h 5492212"/>
              <a:gd name="connsiteX6" fmla="*/ 6920864 w 7036051"/>
              <a:gd name="connsiteY6" fmla="*/ 5220003 h 5492212"/>
              <a:gd name="connsiteX7" fmla="*/ 6834841 w 7036051"/>
              <a:gd name="connsiteY7" fmla="*/ 5266115 h 5492212"/>
              <a:gd name="connsiteX8" fmla="*/ 6777937 w 7036051"/>
              <a:gd name="connsiteY8" fmla="*/ 5332502 h 5492212"/>
              <a:gd name="connsiteX9" fmla="*/ 6752874 w 7036051"/>
              <a:gd name="connsiteY9" fmla="*/ 5340428 h 5492212"/>
              <a:gd name="connsiteX10" fmla="*/ 6711115 w 7036051"/>
              <a:gd name="connsiteY10" fmla="*/ 5353924 h 5492212"/>
              <a:gd name="connsiteX11" fmla="*/ 6702149 w 7036051"/>
              <a:gd name="connsiteY11" fmla="*/ 5351500 h 5492212"/>
              <a:gd name="connsiteX12" fmla="*/ 6698458 w 7036051"/>
              <a:gd name="connsiteY12" fmla="*/ 5352743 h 5492212"/>
              <a:gd name="connsiteX13" fmla="*/ 6698049 w 7036051"/>
              <a:gd name="connsiteY13" fmla="*/ 5352570 h 5492212"/>
              <a:gd name="connsiteX14" fmla="*/ 6697297 w 7036051"/>
              <a:gd name="connsiteY14" fmla="*/ 5353134 h 5492212"/>
              <a:gd name="connsiteX15" fmla="*/ 6689118 w 7036051"/>
              <a:gd name="connsiteY15" fmla="*/ 5355890 h 5492212"/>
              <a:gd name="connsiteX16" fmla="*/ 6670605 w 7036051"/>
              <a:gd name="connsiteY16" fmla="*/ 5355427 h 5492212"/>
              <a:gd name="connsiteX17" fmla="*/ 6659606 w 7036051"/>
              <a:gd name="connsiteY17" fmla="*/ 5357084 h 5492212"/>
              <a:gd name="connsiteX18" fmla="*/ 6649636 w 7036051"/>
              <a:gd name="connsiteY18" fmla="*/ 5367869 h 5492212"/>
              <a:gd name="connsiteX19" fmla="*/ 6642159 w 7036051"/>
              <a:gd name="connsiteY19" fmla="*/ 5369506 h 5492212"/>
              <a:gd name="connsiteX20" fmla="*/ 6640764 w 7036051"/>
              <a:gd name="connsiteY20" fmla="*/ 5370991 h 5492212"/>
              <a:gd name="connsiteX21" fmla="*/ 6636665 w 7036051"/>
              <a:gd name="connsiteY21" fmla="*/ 5374002 h 5492212"/>
              <a:gd name="connsiteX22" fmla="*/ 6641287 w 7036051"/>
              <a:gd name="connsiteY22" fmla="*/ 5376181 h 5492212"/>
              <a:gd name="connsiteX23" fmla="*/ 6591018 w 7036051"/>
              <a:gd name="connsiteY23" fmla="*/ 5390981 h 5492212"/>
              <a:gd name="connsiteX24" fmla="*/ 6548326 w 7036051"/>
              <a:gd name="connsiteY24" fmla="*/ 5403583 h 5492212"/>
              <a:gd name="connsiteX25" fmla="*/ 6472868 w 7036051"/>
              <a:gd name="connsiteY25" fmla="*/ 5394733 h 5492212"/>
              <a:gd name="connsiteX26" fmla="*/ 6401194 w 7036051"/>
              <a:gd name="connsiteY26" fmla="*/ 5422870 h 5492212"/>
              <a:gd name="connsiteX27" fmla="*/ 6381961 w 7036051"/>
              <a:gd name="connsiteY27" fmla="*/ 5422940 h 5492212"/>
              <a:gd name="connsiteX28" fmla="*/ 6363834 w 7036051"/>
              <a:gd name="connsiteY28" fmla="*/ 5417751 h 5492212"/>
              <a:gd name="connsiteX29" fmla="*/ 6363997 w 7036051"/>
              <a:gd name="connsiteY29" fmla="*/ 5415912 h 5492212"/>
              <a:gd name="connsiteX30" fmla="*/ 6361124 w 7036051"/>
              <a:gd name="connsiteY30" fmla="*/ 5415066 h 5492212"/>
              <a:gd name="connsiteX31" fmla="*/ 6358507 w 7036051"/>
              <a:gd name="connsiteY31" fmla="*/ 5416224 h 5492212"/>
              <a:gd name="connsiteX32" fmla="*/ 6355073 w 7036051"/>
              <a:gd name="connsiteY32" fmla="*/ 5415242 h 5492212"/>
              <a:gd name="connsiteX33" fmla="*/ 6345676 w 7036051"/>
              <a:gd name="connsiteY33" fmla="*/ 5413049 h 5492212"/>
              <a:gd name="connsiteX34" fmla="*/ 6342596 w 7036051"/>
              <a:gd name="connsiteY34" fmla="*/ 5409297 h 5492212"/>
              <a:gd name="connsiteX35" fmla="*/ 6305742 w 7036051"/>
              <a:gd name="connsiteY35" fmla="*/ 5401622 h 5492212"/>
              <a:gd name="connsiteX36" fmla="*/ 6294445 w 7036051"/>
              <a:gd name="connsiteY36" fmla="*/ 5404149 h 5492212"/>
              <a:gd name="connsiteX37" fmla="*/ 6281414 w 7036051"/>
              <a:gd name="connsiteY37" fmla="*/ 5398024 h 5492212"/>
              <a:gd name="connsiteX38" fmla="*/ 6243972 w 7036051"/>
              <a:gd name="connsiteY38" fmla="*/ 5395807 h 5492212"/>
              <a:gd name="connsiteX39" fmla="*/ 6202379 w 7036051"/>
              <a:gd name="connsiteY39" fmla="*/ 5388661 h 5492212"/>
              <a:gd name="connsiteX40" fmla="*/ 6173010 w 7036051"/>
              <a:gd name="connsiteY40" fmla="*/ 5380606 h 5492212"/>
              <a:gd name="connsiteX41" fmla="*/ 6093421 w 7036051"/>
              <a:gd name="connsiteY41" fmla="*/ 5375473 h 5492212"/>
              <a:gd name="connsiteX42" fmla="*/ 5959474 w 7036051"/>
              <a:gd name="connsiteY42" fmla="*/ 5373386 h 5492212"/>
              <a:gd name="connsiteX43" fmla="*/ 5931492 w 7036051"/>
              <a:gd name="connsiteY43" fmla="*/ 5371513 h 5492212"/>
              <a:gd name="connsiteX44" fmla="*/ 5909558 w 7036051"/>
              <a:gd name="connsiteY44" fmla="*/ 5364228 h 5492212"/>
              <a:gd name="connsiteX45" fmla="*/ 5906319 w 7036051"/>
              <a:gd name="connsiteY45" fmla="*/ 5357590 h 5492212"/>
              <a:gd name="connsiteX46" fmla="*/ 5891268 w 7036051"/>
              <a:gd name="connsiteY46" fmla="*/ 5355650 h 5492212"/>
              <a:gd name="connsiteX47" fmla="*/ 5887711 w 7036051"/>
              <a:gd name="connsiteY47" fmla="*/ 5353947 h 5492212"/>
              <a:gd name="connsiteX48" fmla="*/ 5866852 w 7036051"/>
              <a:gd name="connsiteY48" fmla="*/ 5345374 h 5492212"/>
              <a:gd name="connsiteX49" fmla="*/ 5811310 w 7036051"/>
              <a:gd name="connsiteY49" fmla="*/ 5356530 h 5492212"/>
              <a:gd name="connsiteX50" fmla="*/ 5770689 w 7036051"/>
              <a:gd name="connsiteY50" fmla="*/ 5359014 h 5492212"/>
              <a:gd name="connsiteX51" fmla="*/ 5767719 w 7036051"/>
              <a:gd name="connsiteY51" fmla="*/ 5357260 h 5492212"/>
              <a:gd name="connsiteX52" fmla="*/ 5765688 w 7036051"/>
              <a:gd name="connsiteY52" fmla="*/ 5352793 h 5492212"/>
              <a:gd name="connsiteX53" fmla="*/ 5758598 w 7036051"/>
              <a:gd name="connsiteY53" fmla="*/ 5351053 h 5492212"/>
              <a:gd name="connsiteX54" fmla="*/ 5752036 w 7036051"/>
              <a:gd name="connsiteY54" fmla="*/ 5346019 h 5492212"/>
              <a:gd name="connsiteX55" fmla="*/ 5503590 w 7036051"/>
              <a:gd name="connsiteY55" fmla="*/ 5325537 h 5492212"/>
              <a:gd name="connsiteX56" fmla="*/ 5389848 w 7036051"/>
              <a:gd name="connsiteY56" fmla="*/ 5351472 h 5492212"/>
              <a:gd name="connsiteX57" fmla="*/ 5344450 w 7036051"/>
              <a:gd name="connsiteY57" fmla="*/ 5354840 h 5492212"/>
              <a:gd name="connsiteX58" fmla="*/ 5338428 w 7036051"/>
              <a:gd name="connsiteY58" fmla="*/ 5350516 h 5492212"/>
              <a:gd name="connsiteX59" fmla="*/ 5273489 w 7036051"/>
              <a:gd name="connsiteY59" fmla="*/ 5373945 h 5492212"/>
              <a:gd name="connsiteX60" fmla="*/ 5182701 w 7036051"/>
              <a:gd name="connsiteY60" fmla="*/ 5370075 h 5492212"/>
              <a:gd name="connsiteX61" fmla="*/ 5114856 w 7036051"/>
              <a:gd name="connsiteY61" fmla="*/ 5361037 h 5492212"/>
              <a:gd name="connsiteX62" fmla="*/ 5076532 w 7036051"/>
              <a:gd name="connsiteY62" fmla="*/ 5358612 h 5492212"/>
              <a:gd name="connsiteX63" fmla="*/ 5048954 w 7036051"/>
              <a:gd name="connsiteY63" fmla="*/ 5353915 h 5492212"/>
              <a:gd name="connsiteX64" fmla="*/ 4977087 w 7036051"/>
              <a:gd name="connsiteY64" fmla="*/ 5357736 h 5492212"/>
              <a:gd name="connsiteX65" fmla="*/ 4857261 w 7036051"/>
              <a:gd name="connsiteY65" fmla="*/ 5370659 h 5492212"/>
              <a:gd name="connsiteX66" fmla="*/ 4769845 w 7036051"/>
              <a:gd name="connsiteY66" fmla="*/ 5353264 h 5492212"/>
              <a:gd name="connsiteX67" fmla="*/ 4722220 w 7036051"/>
              <a:gd name="connsiteY67" fmla="*/ 5370534 h 5492212"/>
              <a:gd name="connsiteX68" fmla="*/ 4667552 w 7036051"/>
              <a:gd name="connsiteY68" fmla="*/ 5366753 h 5492212"/>
              <a:gd name="connsiteX69" fmla="*/ 4454472 w 7036051"/>
              <a:gd name="connsiteY69" fmla="*/ 5391442 h 5492212"/>
              <a:gd name="connsiteX70" fmla="*/ 4317219 w 7036051"/>
              <a:gd name="connsiteY70" fmla="*/ 5411554 h 5492212"/>
              <a:gd name="connsiteX71" fmla="*/ 4298346 w 7036051"/>
              <a:gd name="connsiteY71" fmla="*/ 5416146 h 5492212"/>
              <a:gd name="connsiteX72" fmla="*/ 4298228 w 7036051"/>
              <a:gd name="connsiteY72" fmla="*/ 5417983 h 5492212"/>
              <a:gd name="connsiteX73" fmla="*/ 4295233 w 7036051"/>
              <a:gd name="connsiteY73" fmla="*/ 5418735 h 5492212"/>
              <a:gd name="connsiteX74" fmla="*/ 4292799 w 7036051"/>
              <a:gd name="connsiteY74" fmla="*/ 5417494 h 5492212"/>
              <a:gd name="connsiteX75" fmla="*/ 4289225 w 7036051"/>
              <a:gd name="connsiteY75" fmla="*/ 5418364 h 5492212"/>
              <a:gd name="connsiteX76" fmla="*/ 4279515 w 7036051"/>
              <a:gd name="connsiteY76" fmla="*/ 5420247 h 5492212"/>
              <a:gd name="connsiteX77" fmla="*/ 4275872 w 7036051"/>
              <a:gd name="connsiteY77" fmla="*/ 5423890 h 5492212"/>
              <a:gd name="connsiteX78" fmla="*/ 4227055 w 7036051"/>
              <a:gd name="connsiteY78" fmla="*/ 5427466 h 5492212"/>
              <a:gd name="connsiteX79" fmla="*/ 4213123 w 7036051"/>
              <a:gd name="connsiteY79" fmla="*/ 5433155 h 5492212"/>
              <a:gd name="connsiteX80" fmla="*/ 4175436 w 7036051"/>
              <a:gd name="connsiteY80" fmla="*/ 5434156 h 5492212"/>
              <a:gd name="connsiteX81" fmla="*/ 4132856 w 7036051"/>
              <a:gd name="connsiteY81" fmla="*/ 5439937 h 5492212"/>
              <a:gd name="connsiteX82" fmla="*/ 4102333 w 7036051"/>
              <a:gd name="connsiteY82" fmla="*/ 5447021 h 5492212"/>
              <a:gd name="connsiteX83" fmla="*/ 4022159 w 7036051"/>
              <a:gd name="connsiteY83" fmla="*/ 5449566 h 5492212"/>
              <a:gd name="connsiteX84" fmla="*/ 3888224 w 7036051"/>
              <a:gd name="connsiteY84" fmla="*/ 5447312 h 5492212"/>
              <a:gd name="connsiteX85" fmla="*/ 3860026 w 7036051"/>
              <a:gd name="connsiteY85" fmla="*/ 5448274 h 5492212"/>
              <a:gd name="connsiteX86" fmla="*/ 3832796 w 7036051"/>
              <a:gd name="connsiteY86" fmla="*/ 5461349 h 5492212"/>
              <a:gd name="connsiteX87" fmla="*/ 3817485 w 7036051"/>
              <a:gd name="connsiteY87" fmla="*/ 5462797 h 5492212"/>
              <a:gd name="connsiteX88" fmla="*/ 3813676 w 7036051"/>
              <a:gd name="connsiteY88" fmla="*/ 5464379 h 5492212"/>
              <a:gd name="connsiteX89" fmla="*/ 3791563 w 7036051"/>
              <a:gd name="connsiteY89" fmla="*/ 5472259 h 5492212"/>
              <a:gd name="connsiteX90" fmla="*/ 3737858 w 7036051"/>
              <a:gd name="connsiteY90" fmla="*/ 5459331 h 5492212"/>
              <a:gd name="connsiteX91" fmla="*/ 3697716 w 7036051"/>
              <a:gd name="connsiteY91" fmla="*/ 5455539 h 5492212"/>
              <a:gd name="connsiteX92" fmla="*/ 3694487 w 7036051"/>
              <a:gd name="connsiteY92" fmla="*/ 5457193 h 5492212"/>
              <a:gd name="connsiteX93" fmla="*/ 3691779 w 7036051"/>
              <a:gd name="connsiteY93" fmla="*/ 5461582 h 5492212"/>
              <a:gd name="connsiteX94" fmla="*/ 3684442 w 7036051"/>
              <a:gd name="connsiteY94" fmla="*/ 5463086 h 5492212"/>
              <a:gd name="connsiteX95" fmla="*/ 3677129 w 7036051"/>
              <a:gd name="connsiteY95" fmla="*/ 5467898 h 5492212"/>
              <a:gd name="connsiteX96" fmla="*/ 3438897 w 7036051"/>
              <a:gd name="connsiteY96" fmla="*/ 5462195 h 5492212"/>
              <a:gd name="connsiteX97" fmla="*/ 3389756 w 7036051"/>
              <a:gd name="connsiteY97" fmla="*/ 5444428 h 5492212"/>
              <a:gd name="connsiteX98" fmla="*/ 3316666 w 7036051"/>
              <a:gd name="connsiteY98" fmla="*/ 5450736 h 5492212"/>
              <a:gd name="connsiteX99" fmla="*/ 3271894 w 7036051"/>
              <a:gd name="connsiteY99" fmla="*/ 5445907 h 5492212"/>
              <a:gd name="connsiteX100" fmla="*/ 3265228 w 7036051"/>
              <a:gd name="connsiteY100" fmla="*/ 5450024 h 5492212"/>
              <a:gd name="connsiteX101" fmla="*/ 3204017 w 7036051"/>
              <a:gd name="connsiteY101" fmla="*/ 5424552 h 5492212"/>
              <a:gd name="connsiteX102" fmla="*/ 3112867 w 7036051"/>
              <a:gd name="connsiteY102" fmla="*/ 5425473 h 5492212"/>
              <a:gd name="connsiteX103" fmla="*/ 3043809 w 7036051"/>
              <a:gd name="connsiteY103" fmla="*/ 5432293 h 5492212"/>
              <a:gd name="connsiteX104" fmla="*/ 3005211 w 7036051"/>
              <a:gd name="connsiteY104" fmla="*/ 5433472 h 5492212"/>
              <a:gd name="connsiteX105" fmla="*/ 2976986 w 7036051"/>
              <a:gd name="connsiteY105" fmla="*/ 5437264 h 5492212"/>
              <a:gd name="connsiteX106" fmla="*/ 2905879 w 7036051"/>
              <a:gd name="connsiteY106" fmla="*/ 5431128 h 5492212"/>
              <a:gd name="connsiteX107" fmla="*/ 2788318 w 7036051"/>
              <a:gd name="connsiteY107" fmla="*/ 5414358 h 5492212"/>
              <a:gd name="connsiteX108" fmla="*/ 2653590 w 7036051"/>
              <a:gd name="connsiteY108" fmla="*/ 5410111 h 5492212"/>
              <a:gd name="connsiteX109" fmla="*/ 2598481 w 7036051"/>
              <a:gd name="connsiteY109" fmla="*/ 5412114 h 5492212"/>
              <a:gd name="connsiteX110" fmla="*/ 2333897 w 7036051"/>
              <a:gd name="connsiteY110" fmla="*/ 5408505 h 5492212"/>
              <a:gd name="connsiteX111" fmla="*/ 2271841 w 7036051"/>
              <a:gd name="connsiteY111" fmla="*/ 5396433 h 5492212"/>
              <a:gd name="connsiteX112" fmla="*/ 2143705 w 7036051"/>
              <a:gd name="connsiteY112" fmla="*/ 5345095 h 5492212"/>
              <a:gd name="connsiteX113" fmla="*/ 1986408 w 7036051"/>
              <a:gd name="connsiteY113" fmla="*/ 5335524 h 5492212"/>
              <a:gd name="connsiteX114" fmla="*/ 1975333 w 7036051"/>
              <a:gd name="connsiteY114" fmla="*/ 5325099 h 5492212"/>
              <a:gd name="connsiteX115" fmla="*/ 1972441 w 7036051"/>
              <a:gd name="connsiteY115" fmla="*/ 5323775 h 5492212"/>
              <a:gd name="connsiteX116" fmla="*/ 1971497 w 7036051"/>
              <a:gd name="connsiteY116" fmla="*/ 5324412 h 5492212"/>
              <a:gd name="connsiteX117" fmla="*/ 1956886 w 7036051"/>
              <a:gd name="connsiteY117" fmla="*/ 5327069 h 5492212"/>
              <a:gd name="connsiteX118" fmla="*/ 1924833 w 7036051"/>
              <a:gd name="connsiteY118" fmla="*/ 5344911 h 5492212"/>
              <a:gd name="connsiteX119" fmla="*/ 1885856 w 7036051"/>
              <a:gd name="connsiteY119" fmla="*/ 5367299 h 5492212"/>
              <a:gd name="connsiteX120" fmla="*/ 1855937 w 7036051"/>
              <a:gd name="connsiteY120" fmla="*/ 5372820 h 5492212"/>
              <a:gd name="connsiteX121" fmla="*/ 1784500 w 7036051"/>
              <a:gd name="connsiteY121" fmla="*/ 5395926 h 5492212"/>
              <a:gd name="connsiteX122" fmla="*/ 1737998 w 7036051"/>
              <a:gd name="connsiteY122" fmla="*/ 5407426 h 5492212"/>
              <a:gd name="connsiteX123" fmla="*/ 1736716 w 7036051"/>
              <a:gd name="connsiteY123" fmla="*/ 5407939 h 5492212"/>
              <a:gd name="connsiteX124" fmla="*/ 1726742 w 7036051"/>
              <a:gd name="connsiteY124" fmla="*/ 5405934 h 5492212"/>
              <a:gd name="connsiteX125" fmla="*/ 1726849 w 7036051"/>
              <a:gd name="connsiteY125" fmla="*/ 5401221 h 5492212"/>
              <a:gd name="connsiteX126" fmla="*/ 1718134 w 7036051"/>
              <a:gd name="connsiteY126" fmla="*/ 5398128 h 5492212"/>
              <a:gd name="connsiteX127" fmla="*/ 1701063 w 7036051"/>
              <a:gd name="connsiteY127" fmla="*/ 5400545 h 5492212"/>
              <a:gd name="connsiteX128" fmla="*/ 1694634 w 7036051"/>
              <a:gd name="connsiteY128" fmla="*/ 5398728 h 5492212"/>
              <a:gd name="connsiteX129" fmla="*/ 1692270 w 7036051"/>
              <a:gd name="connsiteY129" fmla="*/ 5399053 h 5492212"/>
              <a:gd name="connsiteX130" fmla="*/ 1686657 w 7036051"/>
              <a:gd name="connsiteY130" fmla="*/ 5399247 h 5492212"/>
              <a:gd name="connsiteX131" fmla="*/ 1687479 w 7036051"/>
              <a:gd name="connsiteY131" fmla="*/ 5402165 h 5492212"/>
              <a:gd name="connsiteX132" fmla="*/ 1680969 w 7036051"/>
              <a:gd name="connsiteY132" fmla="*/ 5407963 h 5492212"/>
              <a:gd name="connsiteX133" fmla="*/ 1648682 w 7036051"/>
              <a:gd name="connsiteY133" fmla="*/ 5407558 h 5492212"/>
              <a:gd name="connsiteX134" fmla="*/ 1646819 w 7036051"/>
              <a:gd name="connsiteY134" fmla="*/ 5404306 h 5492212"/>
              <a:gd name="connsiteX135" fmla="*/ 1642743 w 7036051"/>
              <a:gd name="connsiteY135" fmla="*/ 5403927 h 5492212"/>
              <a:gd name="connsiteX136" fmla="*/ 1639788 w 7036051"/>
              <a:gd name="connsiteY136" fmla="*/ 5407135 h 5492212"/>
              <a:gd name="connsiteX137" fmla="*/ 1585803 w 7036051"/>
              <a:gd name="connsiteY137" fmla="*/ 5416574 h 5492212"/>
              <a:gd name="connsiteX138" fmla="*/ 1513331 w 7036051"/>
              <a:gd name="connsiteY138" fmla="*/ 5423805 h 5492212"/>
              <a:gd name="connsiteX139" fmla="*/ 1460734 w 7036051"/>
              <a:gd name="connsiteY139" fmla="*/ 5411778 h 5492212"/>
              <a:gd name="connsiteX140" fmla="*/ 1456045 w 7036051"/>
              <a:gd name="connsiteY140" fmla="*/ 5414928 h 5492212"/>
              <a:gd name="connsiteX141" fmla="*/ 1419653 w 7036051"/>
              <a:gd name="connsiteY141" fmla="*/ 5415060 h 5492212"/>
              <a:gd name="connsiteX142" fmla="*/ 1292605 w 7036051"/>
              <a:gd name="connsiteY142" fmla="*/ 5394671 h 5492212"/>
              <a:gd name="connsiteX143" fmla="*/ 1221477 w 7036051"/>
              <a:gd name="connsiteY143" fmla="*/ 5395509 h 5492212"/>
              <a:gd name="connsiteX144" fmla="*/ 1196159 w 7036051"/>
              <a:gd name="connsiteY144" fmla="*/ 5399169 h 5492212"/>
              <a:gd name="connsiteX145" fmla="*/ 1153748 w 7036051"/>
              <a:gd name="connsiteY145" fmla="*/ 5405093 h 5492212"/>
              <a:gd name="connsiteX146" fmla="*/ 1121874 w 7036051"/>
              <a:gd name="connsiteY146" fmla="*/ 5417803 h 5492212"/>
              <a:gd name="connsiteX147" fmla="*/ 1086481 w 7036051"/>
              <a:gd name="connsiteY147" fmla="*/ 5419474 h 5492212"/>
              <a:gd name="connsiteX148" fmla="*/ 1078485 w 7036051"/>
              <a:gd name="connsiteY148" fmla="*/ 5409150 h 5492212"/>
              <a:gd name="connsiteX149" fmla="*/ 1040550 w 7036051"/>
              <a:gd name="connsiteY149" fmla="*/ 5414415 h 5492212"/>
              <a:gd name="connsiteX150" fmla="*/ 982981 w 7036051"/>
              <a:gd name="connsiteY150" fmla="*/ 5423575 h 5492212"/>
              <a:gd name="connsiteX151" fmla="*/ 949836 w 7036051"/>
              <a:gd name="connsiteY151" fmla="*/ 5426093 h 5492212"/>
              <a:gd name="connsiteX152" fmla="*/ 859237 w 7036051"/>
              <a:gd name="connsiteY152" fmla="*/ 5435973 h 5492212"/>
              <a:gd name="connsiteX153" fmla="*/ 768445 w 7036051"/>
              <a:gd name="connsiteY153" fmla="*/ 5448159 h 5492212"/>
              <a:gd name="connsiteX154" fmla="*/ 714393 w 7036051"/>
              <a:gd name="connsiteY154" fmla="*/ 5468302 h 5492212"/>
              <a:gd name="connsiteX155" fmla="*/ 639791 w 7036051"/>
              <a:gd name="connsiteY155" fmla="*/ 5476924 h 5492212"/>
              <a:gd name="connsiteX156" fmla="*/ 627266 w 7036051"/>
              <a:gd name="connsiteY156" fmla="*/ 5480260 h 5492212"/>
              <a:gd name="connsiteX157" fmla="*/ 609977 w 7036051"/>
              <a:gd name="connsiteY157" fmla="*/ 5478891 h 5492212"/>
              <a:gd name="connsiteX158" fmla="*/ 540688 w 7036051"/>
              <a:gd name="connsiteY158" fmla="*/ 5472807 h 5492212"/>
              <a:gd name="connsiteX159" fmla="*/ 486194 w 7036051"/>
              <a:gd name="connsiteY159" fmla="*/ 5462661 h 5492212"/>
              <a:gd name="connsiteX160" fmla="*/ 418164 w 7036051"/>
              <a:gd name="connsiteY160" fmla="*/ 5472485 h 5492212"/>
              <a:gd name="connsiteX161" fmla="*/ 376724 w 7036051"/>
              <a:gd name="connsiteY161" fmla="*/ 5470967 h 5492212"/>
              <a:gd name="connsiteX162" fmla="*/ 308908 w 7036051"/>
              <a:gd name="connsiteY162" fmla="*/ 5457025 h 5492212"/>
              <a:gd name="connsiteX163" fmla="*/ 219416 w 7036051"/>
              <a:gd name="connsiteY163" fmla="*/ 5463995 h 5492212"/>
              <a:gd name="connsiteX164" fmla="*/ 200977 w 7036051"/>
              <a:gd name="connsiteY164" fmla="*/ 5480608 h 5492212"/>
              <a:gd name="connsiteX165" fmla="*/ 176226 w 7036051"/>
              <a:gd name="connsiteY165" fmla="*/ 5491022 h 5492212"/>
              <a:gd name="connsiteX166" fmla="*/ 165702 w 7036051"/>
              <a:gd name="connsiteY166" fmla="*/ 5468604 h 5492212"/>
              <a:gd name="connsiteX167" fmla="*/ 88282 w 7036051"/>
              <a:gd name="connsiteY167" fmla="*/ 5453658 h 5492212"/>
              <a:gd name="connsiteX168" fmla="*/ 49602 w 7036051"/>
              <a:gd name="connsiteY168" fmla="*/ 5448762 h 5492212"/>
              <a:gd name="connsiteX169" fmla="*/ 22844 w 7036051"/>
              <a:gd name="connsiteY169" fmla="*/ 5450459 h 5492212"/>
              <a:gd name="connsiteX170" fmla="*/ 0 w 7036051"/>
              <a:gd name="connsiteY170" fmla="*/ 5447653 h 5492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7036051" h="5492212">
                <a:moveTo>
                  <a:pt x="0" y="0"/>
                </a:moveTo>
                <a:lnTo>
                  <a:pt x="7036051" y="0"/>
                </a:lnTo>
                <a:lnTo>
                  <a:pt x="7036051" y="5163846"/>
                </a:lnTo>
                <a:lnTo>
                  <a:pt x="7012593" y="5176898"/>
                </a:lnTo>
                <a:cubicBezTo>
                  <a:pt x="7010768" y="5193373"/>
                  <a:pt x="6968133" y="5178026"/>
                  <a:pt x="6958601" y="5204359"/>
                </a:cubicBezTo>
                <a:cubicBezTo>
                  <a:pt x="6956255" y="5203750"/>
                  <a:pt x="6953771" y="5203373"/>
                  <a:pt x="6951226" y="5203241"/>
                </a:cubicBezTo>
                <a:cubicBezTo>
                  <a:pt x="6936441" y="5202478"/>
                  <a:pt x="6922846" y="5209982"/>
                  <a:pt x="6920864" y="5220003"/>
                </a:cubicBezTo>
                <a:cubicBezTo>
                  <a:pt x="6902003" y="5258795"/>
                  <a:pt x="6863469" y="5243876"/>
                  <a:pt x="6834841" y="5266115"/>
                </a:cubicBezTo>
                <a:cubicBezTo>
                  <a:pt x="6800315" y="5289373"/>
                  <a:pt x="6805780" y="5289922"/>
                  <a:pt x="6777937" y="5332502"/>
                </a:cubicBezTo>
                <a:cubicBezTo>
                  <a:pt x="6765321" y="5328518"/>
                  <a:pt x="6759096" y="5331534"/>
                  <a:pt x="6752874" y="5340428"/>
                </a:cubicBezTo>
                <a:cubicBezTo>
                  <a:pt x="6735526" y="5351218"/>
                  <a:pt x="6717730" y="5333264"/>
                  <a:pt x="6711115" y="5353924"/>
                </a:cubicBezTo>
                <a:cubicBezTo>
                  <a:pt x="6709352" y="5351156"/>
                  <a:pt x="6706090" y="5350761"/>
                  <a:pt x="6702149" y="5351500"/>
                </a:cubicBezTo>
                <a:lnTo>
                  <a:pt x="6698458" y="5352743"/>
                </a:lnTo>
                <a:lnTo>
                  <a:pt x="6698049" y="5352570"/>
                </a:lnTo>
                <a:lnTo>
                  <a:pt x="6697297" y="5353134"/>
                </a:lnTo>
                <a:lnTo>
                  <a:pt x="6689118" y="5355890"/>
                </a:lnTo>
                <a:cubicBezTo>
                  <a:pt x="6680171" y="5359440"/>
                  <a:pt x="6671805" y="5362584"/>
                  <a:pt x="6670605" y="5355427"/>
                </a:cubicBezTo>
                <a:cubicBezTo>
                  <a:pt x="6665330" y="5354991"/>
                  <a:pt x="6661976" y="5355734"/>
                  <a:pt x="6659606" y="5357084"/>
                </a:cubicBezTo>
                <a:cubicBezTo>
                  <a:pt x="6654864" y="5359782"/>
                  <a:pt x="6654050" y="5364908"/>
                  <a:pt x="6649636" y="5367869"/>
                </a:cubicBezTo>
                <a:lnTo>
                  <a:pt x="6642159" y="5369506"/>
                </a:lnTo>
                <a:lnTo>
                  <a:pt x="6640764" y="5370991"/>
                </a:lnTo>
                <a:lnTo>
                  <a:pt x="6636665" y="5374002"/>
                </a:lnTo>
                <a:lnTo>
                  <a:pt x="6641287" y="5376181"/>
                </a:lnTo>
                <a:cubicBezTo>
                  <a:pt x="6646080" y="5377976"/>
                  <a:pt x="6597903" y="5386514"/>
                  <a:pt x="6591018" y="5390981"/>
                </a:cubicBezTo>
                <a:lnTo>
                  <a:pt x="6548326" y="5403583"/>
                </a:lnTo>
                <a:lnTo>
                  <a:pt x="6472868" y="5394733"/>
                </a:lnTo>
                <a:cubicBezTo>
                  <a:pt x="6457699" y="5415896"/>
                  <a:pt x="6417760" y="5410703"/>
                  <a:pt x="6401194" y="5422870"/>
                </a:cubicBezTo>
                <a:lnTo>
                  <a:pt x="6381961" y="5422940"/>
                </a:lnTo>
                <a:lnTo>
                  <a:pt x="6363834" y="5417751"/>
                </a:lnTo>
                <a:lnTo>
                  <a:pt x="6363997" y="5415912"/>
                </a:lnTo>
                <a:cubicBezTo>
                  <a:pt x="6363602" y="5414702"/>
                  <a:pt x="6362617" y="5414594"/>
                  <a:pt x="6361124" y="5415066"/>
                </a:cubicBezTo>
                <a:lnTo>
                  <a:pt x="6358507" y="5416224"/>
                </a:lnTo>
                <a:lnTo>
                  <a:pt x="6355073" y="5415242"/>
                </a:lnTo>
                <a:lnTo>
                  <a:pt x="6345676" y="5413049"/>
                </a:lnTo>
                <a:lnTo>
                  <a:pt x="6342596" y="5409297"/>
                </a:lnTo>
                <a:cubicBezTo>
                  <a:pt x="6333502" y="5403420"/>
                  <a:pt x="6312379" y="5410664"/>
                  <a:pt x="6305742" y="5401622"/>
                </a:cubicBezTo>
                <a:lnTo>
                  <a:pt x="6294445" y="5404149"/>
                </a:lnTo>
                <a:lnTo>
                  <a:pt x="6281414" y="5398024"/>
                </a:lnTo>
                <a:cubicBezTo>
                  <a:pt x="6269392" y="5392983"/>
                  <a:pt x="6257013" y="5390092"/>
                  <a:pt x="6243972" y="5395807"/>
                </a:cubicBezTo>
                <a:cubicBezTo>
                  <a:pt x="6248312" y="5382942"/>
                  <a:pt x="6211634" y="5399629"/>
                  <a:pt x="6202379" y="5388661"/>
                </a:cubicBezTo>
                <a:cubicBezTo>
                  <a:pt x="6196568" y="5379556"/>
                  <a:pt x="6184084" y="5382499"/>
                  <a:pt x="6173010" y="5380606"/>
                </a:cubicBezTo>
                <a:cubicBezTo>
                  <a:pt x="6162384" y="5372079"/>
                  <a:pt x="6109972" y="5371285"/>
                  <a:pt x="6093421" y="5375473"/>
                </a:cubicBezTo>
                <a:cubicBezTo>
                  <a:pt x="6048943" y="5392971"/>
                  <a:pt x="5995413" y="5360396"/>
                  <a:pt x="5959474" y="5373386"/>
                </a:cubicBezTo>
                <a:cubicBezTo>
                  <a:pt x="5949048" y="5374123"/>
                  <a:pt x="5939860" y="5373301"/>
                  <a:pt x="5931492" y="5371513"/>
                </a:cubicBezTo>
                <a:lnTo>
                  <a:pt x="5909558" y="5364228"/>
                </a:lnTo>
                <a:lnTo>
                  <a:pt x="5906319" y="5357590"/>
                </a:lnTo>
                <a:lnTo>
                  <a:pt x="5891268" y="5355650"/>
                </a:lnTo>
                <a:lnTo>
                  <a:pt x="5887711" y="5353947"/>
                </a:lnTo>
                <a:cubicBezTo>
                  <a:pt x="5880924" y="5350671"/>
                  <a:pt x="5874113" y="5347614"/>
                  <a:pt x="5866852" y="5345374"/>
                </a:cubicBezTo>
                <a:cubicBezTo>
                  <a:pt x="5859911" y="5373405"/>
                  <a:pt x="5803959" y="5330929"/>
                  <a:pt x="5811310" y="5356530"/>
                </a:cubicBezTo>
                <a:cubicBezTo>
                  <a:pt x="5780489" y="5350949"/>
                  <a:pt x="5782784" y="5364359"/>
                  <a:pt x="5770689" y="5359014"/>
                </a:cubicBezTo>
                <a:lnTo>
                  <a:pt x="5767719" y="5357260"/>
                </a:lnTo>
                <a:lnTo>
                  <a:pt x="5765688" y="5352793"/>
                </a:lnTo>
                <a:lnTo>
                  <a:pt x="5758598" y="5351053"/>
                </a:lnTo>
                <a:lnTo>
                  <a:pt x="5752036" y="5346019"/>
                </a:lnTo>
                <a:cubicBezTo>
                  <a:pt x="5676031" y="5353035"/>
                  <a:pt x="5573285" y="5304575"/>
                  <a:pt x="5503590" y="5325537"/>
                </a:cubicBezTo>
                <a:lnTo>
                  <a:pt x="5389848" y="5351472"/>
                </a:lnTo>
                <a:cubicBezTo>
                  <a:pt x="5378275" y="5360535"/>
                  <a:pt x="5357949" y="5362044"/>
                  <a:pt x="5344450" y="5354840"/>
                </a:cubicBezTo>
                <a:cubicBezTo>
                  <a:pt x="5342129" y="5353601"/>
                  <a:pt x="5340101" y="5352144"/>
                  <a:pt x="5338428" y="5350516"/>
                </a:cubicBezTo>
                <a:cubicBezTo>
                  <a:pt x="5303858" y="5372450"/>
                  <a:pt x="5291134" y="5358414"/>
                  <a:pt x="5273489" y="5373945"/>
                </a:cubicBezTo>
                <a:cubicBezTo>
                  <a:pt x="5228455" y="5376430"/>
                  <a:pt x="5198895" y="5356533"/>
                  <a:pt x="5182701" y="5370075"/>
                </a:cubicBezTo>
                <a:cubicBezTo>
                  <a:pt x="5161004" y="5366959"/>
                  <a:pt x="5136154" y="5346791"/>
                  <a:pt x="5114856" y="5361037"/>
                </a:cubicBezTo>
                <a:cubicBezTo>
                  <a:pt x="5116518" y="5347803"/>
                  <a:pt x="5086668" y="5368445"/>
                  <a:pt x="5076532" y="5358612"/>
                </a:cubicBezTo>
                <a:cubicBezTo>
                  <a:pt x="5069788" y="5350240"/>
                  <a:pt x="5059157" y="5354551"/>
                  <a:pt x="5048954" y="5353915"/>
                </a:cubicBezTo>
                <a:cubicBezTo>
                  <a:pt x="5038015" y="5346654"/>
                  <a:pt x="4991132" y="5351733"/>
                  <a:pt x="4977087" y="5357736"/>
                </a:cubicBezTo>
                <a:cubicBezTo>
                  <a:pt x="4940420" y="5380054"/>
                  <a:pt x="4887089" y="5353763"/>
                  <a:pt x="4857261" y="5370659"/>
                </a:cubicBezTo>
                <a:cubicBezTo>
                  <a:pt x="4820568" y="5378246"/>
                  <a:pt x="4797284" y="5358899"/>
                  <a:pt x="4769845" y="5353264"/>
                </a:cubicBezTo>
                <a:cubicBezTo>
                  <a:pt x="4768462" y="5381819"/>
                  <a:pt x="4711275" y="5345988"/>
                  <a:pt x="4722220" y="5370534"/>
                </a:cubicBezTo>
                <a:cubicBezTo>
                  <a:pt x="4684293" y="5367762"/>
                  <a:pt x="4704662" y="5391854"/>
                  <a:pt x="4667552" y="5366753"/>
                </a:cubicBezTo>
                <a:cubicBezTo>
                  <a:pt x="4600967" y="5382212"/>
                  <a:pt x="4513038" y="5362869"/>
                  <a:pt x="4454472" y="5391442"/>
                </a:cubicBezTo>
                <a:lnTo>
                  <a:pt x="4317219" y="5411554"/>
                </a:lnTo>
                <a:lnTo>
                  <a:pt x="4298346" y="5416146"/>
                </a:lnTo>
                <a:cubicBezTo>
                  <a:pt x="4298306" y="5416758"/>
                  <a:pt x="4298267" y="5417371"/>
                  <a:pt x="4298228" y="5417983"/>
                </a:cubicBezTo>
                <a:cubicBezTo>
                  <a:pt x="4297649" y="5419178"/>
                  <a:pt x="4296651" y="5419253"/>
                  <a:pt x="4295233" y="5418735"/>
                </a:cubicBezTo>
                <a:lnTo>
                  <a:pt x="4292799" y="5417494"/>
                </a:lnTo>
                <a:lnTo>
                  <a:pt x="4289225" y="5418364"/>
                </a:lnTo>
                <a:lnTo>
                  <a:pt x="4279515" y="5420247"/>
                </a:lnTo>
                <a:lnTo>
                  <a:pt x="4275872" y="5423890"/>
                </a:lnTo>
                <a:lnTo>
                  <a:pt x="4227055" y="5427466"/>
                </a:lnTo>
                <a:lnTo>
                  <a:pt x="4213123" y="5433155"/>
                </a:lnTo>
                <a:cubicBezTo>
                  <a:pt x="4200364" y="5437794"/>
                  <a:pt x="4187574" y="5440279"/>
                  <a:pt x="4175436" y="5434156"/>
                </a:cubicBezTo>
                <a:cubicBezTo>
                  <a:pt x="4177805" y="5447129"/>
                  <a:pt x="4143760" y="5429295"/>
                  <a:pt x="4132856" y="5439937"/>
                </a:cubicBezTo>
                <a:cubicBezTo>
                  <a:pt x="4125673" y="5448831"/>
                  <a:pt x="4113669" y="5445492"/>
                  <a:pt x="4102333" y="5447021"/>
                </a:cubicBezTo>
                <a:cubicBezTo>
                  <a:pt x="4090434" y="5455185"/>
                  <a:pt x="4038031" y="5454280"/>
                  <a:pt x="4022159" y="5449566"/>
                </a:cubicBezTo>
                <a:cubicBezTo>
                  <a:pt x="3980455" y="5430671"/>
                  <a:pt x="3922096" y="5461433"/>
                  <a:pt x="3888224" y="5447312"/>
                </a:cubicBezTo>
                <a:cubicBezTo>
                  <a:pt x="3877937" y="5446239"/>
                  <a:pt x="3868647" y="5446763"/>
                  <a:pt x="3860026" y="5448274"/>
                </a:cubicBezTo>
                <a:lnTo>
                  <a:pt x="3832796" y="5461349"/>
                </a:lnTo>
                <a:lnTo>
                  <a:pt x="3817485" y="5462797"/>
                </a:lnTo>
                <a:lnTo>
                  <a:pt x="3813676" y="5464379"/>
                </a:lnTo>
                <a:cubicBezTo>
                  <a:pt x="3806407" y="5467429"/>
                  <a:pt x="3799147" y="5470257"/>
                  <a:pt x="3791563" y="5472259"/>
                </a:cubicBezTo>
                <a:cubicBezTo>
                  <a:pt x="3788910" y="5444072"/>
                  <a:pt x="3726624" y="5484631"/>
                  <a:pt x="3737858" y="5459331"/>
                </a:cubicBezTo>
                <a:cubicBezTo>
                  <a:pt x="3706262" y="5463900"/>
                  <a:pt x="3710598" y="5450598"/>
                  <a:pt x="3697716" y="5455539"/>
                </a:cubicBezTo>
                <a:lnTo>
                  <a:pt x="3694487" y="5457193"/>
                </a:lnTo>
                <a:lnTo>
                  <a:pt x="3691779" y="5461582"/>
                </a:lnTo>
                <a:lnTo>
                  <a:pt x="3684442" y="5463086"/>
                </a:lnTo>
                <a:lnTo>
                  <a:pt x="3677129" y="5467898"/>
                </a:lnTo>
                <a:cubicBezTo>
                  <a:pt x="3602381" y="5458439"/>
                  <a:pt x="3505226" y="5485361"/>
                  <a:pt x="3438897" y="5462195"/>
                </a:cubicBezTo>
                <a:lnTo>
                  <a:pt x="3389756" y="5444428"/>
                </a:lnTo>
                <a:cubicBezTo>
                  <a:pt x="3364455" y="5437704"/>
                  <a:pt x="3342081" y="5466704"/>
                  <a:pt x="3316666" y="5450736"/>
                </a:cubicBezTo>
                <a:cubicBezTo>
                  <a:pt x="3306503" y="5441319"/>
                  <a:pt x="3286457" y="5439158"/>
                  <a:pt x="3271894" y="5445907"/>
                </a:cubicBezTo>
                <a:cubicBezTo>
                  <a:pt x="3269388" y="5447068"/>
                  <a:pt x="3267143" y="5448455"/>
                  <a:pt x="3265228" y="5450024"/>
                </a:cubicBezTo>
                <a:cubicBezTo>
                  <a:pt x="3234084" y="5427025"/>
                  <a:pt x="3219254" y="5440615"/>
                  <a:pt x="3204017" y="5424552"/>
                </a:cubicBezTo>
                <a:cubicBezTo>
                  <a:pt x="3159473" y="5420614"/>
                  <a:pt x="3126956" y="5439505"/>
                  <a:pt x="3112867" y="5425473"/>
                </a:cubicBezTo>
                <a:cubicBezTo>
                  <a:pt x="3090747" y="5427880"/>
                  <a:pt x="3062886" y="5447193"/>
                  <a:pt x="3043809" y="5432293"/>
                </a:cubicBezTo>
                <a:cubicBezTo>
                  <a:pt x="3043452" y="5445549"/>
                  <a:pt x="3016821" y="5423991"/>
                  <a:pt x="3005211" y="5433472"/>
                </a:cubicBezTo>
                <a:cubicBezTo>
                  <a:pt x="2997207" y="5441605"/>
                  <a:pt x="2987260" y="5436961"/>
                  <a:pt x="2976986" y="5437264"/>
                </a:cubicBezTo>
                <a:cubicBezTo>
                  <a:pt x="2964968" y="5444153"/>
                  <a:pt x="2918975" y="5437570"/>
                  <a:pt x="2905879" y="5431128"/>
                </a:cubicBezTo>
                <a:cubicBezTo>
                  <a:pt x="2872703" y="5407678"/>
                  <a:pt x="2815496" y="5432178"/>
                  <a:pt x="2788318" y="5414358"/>
                </a:cubicBezTo>
                <a:cubicBezTo>
                  <a:pt x="2746271" y="5410854"/>
                  <a:pt x="2685231" y="5410484"/>
                  <a:pt x="2653590" y="5410111"/>
                </a:cubicBezTo>
                <a:cubicBezTo>
                  <a:pt x="2615334" y="5411650"/>
                  <a:pt x="2639324" y="5388277"/>
                  <a:pt x="2598481" y="5412114"/>
                </a:cubicBezTo>
                <a:cubicBezTo>
                  <a:pt x="2534415" y="5394537"/>
                  <a:pt x="2387966" y="5438902"/>
                  <a:pt x="2333897" y="5408505"/>
                </a:cubicBezTo>
                <a:cubicBezTo>
                  <a:pt x="2279458" y="5405891"/>
                  <a:pt x="2312839" y="5402348"/>
                  <a:pt x="2271841" y="5396433"/>
                </a:cubicBezTo>
                <a:cubicBezTo>
                  <a:pt x="2263465" y="5363868"/>
                  <a:pt x="2168184" y="5361433"/>
                  <a:pt x="2143705" y="5345095"/>
                </a:cubicBezTo>
                <a:cubicBezTo>
                  <a:pt x="2087043" y="5343333"/>
                  <a:pt x="2041689" y="5319742"/>
                  <a:pt x="1986408" y="5335524"/>
                </a:cubicBezTo>
                <a:cubicBezTo>
                  <a:pt x="1983594" y="5331315"/>
                  <a:pt x="1979798" y="5327915"/>
                  <a:pt x="1975333" y="5325099"/>
                </a:cubicBezTo>
                <a:lnTo>
                  <a:pt x="1972441" y="5323775"/>
                </a:lnTo>
                <a:lnTo>
                  <a:pt x="1971497" y="5324412"/>
                </a:lnTo>
                <a:cubicBezTo>
                  <a:pt x="1967825" y="5325937"/>
                  <a:pt x="1963255" y="5326871"/>
                  <a:pt x="1956886" y="5327069"/>
                </a:cubicBezTo>
                <a:cubicBezTo>
                  <a:pt x="1957692" y="5357103"/>
                  <a:pt x="1944755" y="5337483"/>
                  <a:pt x="1924833" y="5344911"/>
                </a:cubicBezTo>
                <a:cubicBezTo>
                  <a:pt x="1907350" y="5349449"/>
                  <a:pt x="1899872" y="5360515"/>
                  <a:pt x="1885856" y="5367299"/>
                </a:cubicBezTo>
                <a:cubicBezTo>
                  <a:pt x="1874373" y="5371950"/>
                  <a:pt x="1870677" y="5363227"/>
                  <a:pt x="1855937" y="5372820"/>
                </a:cubicBezTo>
                <a:cubicBezTo>
                  <a:pt x="1826799" y="5367486"/>
                  <a:pt x="1805938" y="5389998"/>
                  <a:pt x="1784500" y="5395926"/>
                </a:cubicBezTo>
                <a:cubicBezTo>
                  <a:pt x="1777473" y="5395836"/>
                  <a:pt x="1756895" y="5401012"/>
                  <a:pt x="1737998" y="5407426"/>
                </a:cubicBezTo>
                <a:lnTo>
                  <a:pt x="1736716" y="5407939"/>
                </a:lnTo>
                <a:lnTo>
                  <a:pt x="1726742" y="5405934"/>
                </a:lnTo>
                <a:cubicBezTo>
                  <a:pt x="1724249" y="5404894"/>
                  <a:pt x="1723700" y="5403454"/>
                  <a:pt x="1726849" y="5401221"/>
                </a:cubicBezTo>
                <a:cubicBezTo>
                  <a:pt x="1723886" y="5399045"/>
                  <a:pt x="1720993" y="5398236"/>
                  <a:pt x="1718134" y="5398128"/>
                </a:cubicBezTo>
                <a:cubicBezTo>
                  <a:pt x="1712416" y="5397910"/>
                  <a:pt x="1706830" y="5400494"/>
                  <a:pt x="1701063" y="5400545"/>
                </a:cubicBezTo>
                <a:lnTo>
                  <a:pt x="1694634" y="5398728"/>
                </a:lnTo>
                <a:lnTo>
                  <a:pt x="1692270" y="5399053"/>
                </a:lnTo>
                <a:lnTo>
                  <a:pt x="1686657" y="5399247"/>
                </a:lnTo>
                <a:lnTo>
                  <a:pt x="1687479" y="5402165"/>
                </a:lnTo>
                <a:cubicBezTo>
                  <a:pt x="1688791" y="5404927"/>
                  <a:pt x="1689812" y="5407972"/>
                  <a:pt x="1680969" y="5407963"/>
                </a:cubicBezTo>
                <a:cubicBezTo>
                  <a:pt x="1662599" y="5406532"/>
                  <a:pt x="1656841" y="5418932"/>
                  <a:pt x="1648682" y="5407558"/>
                </a:cubicBezTo>
                <a:lnTo>
                  <a:pt x="1646819" y="5404306"/>
                </a:lnTo>
                <a:lnTo>
                  <a:pt x="1642743" y="5403927"/>
                </a:lnTo>
                <a:cubicBezTo>
                  <a:pt x="1640569" y="5404120"/>
                  <a:pt x="1639361" y="5404983"/>
                  <a:pt x="1639788" y="5407135"/>
                </a:cubicBezTo>
                <a:cubicBezTo>
                  <a:pt x="1622347" y="5398881"/>
                  <a:pt x="1603063" y="5413406"/>
                  <a:pt x="1585803" y="5416574"/>
                </a:cubicBezTo>
                <a:cubicBezTo>
                  <a:pt x="1572467" y="5408520"/>
                  <a:pt x="1549407" y="5423110"/>
                  <a:pt x="1513331" y="5423805"/>
                </a:cubicBezTo>
                <a:cubicBezTo>
                  <a:pt x="1498774" y="5414520"/>
                  <a:pt x="1489007" y="5424393"/>
                  <a:pt x="1460734" y="5411778"/>
                </a:cubicBezTo>
                <a:cubicBezTo>
                  <a:pt x="1459446" y="5412932"/>
                  <a:pt x="1457867" y="5413992"/>
                  <a:pt x="1456045" y="5414928"/>
                </a:cubicBezTo>
                <a:cubicBezTo>
                  <a:pt x="1445460" y="5420354"/>
                  <a:pt x="1429166" y="5420415"/>
                  <a:pt x="1419653" y="5415060"/>
                </a:cubicBezTo>
                <a:cubicBezTo>
                  <a:pt x="1374353" y="5398095"/>
                  <a:pt x="1332064" y="5398411"/>
                  <a:pt x="1292605" y="5394671"/>
                </a:cubicBezTo>
                <a:cubicBezTo>
                  <a:pt x="1247867" y="5392301"/>
                  <a:pt x="1276603" y="5411730"/>
                  <a:pt x="1221477" y="5395509"/>
                </a:cubicBezTo>
                <a:cubicBezTo>
                  <a:pt x="1215107" y="5402140"/>
                  <a:pt x="1207983" y="5402421"/>
                  <a:pt x="1196159" y="5399169"/>
                </a:cubicBezTo>
                <a:cubicBezTo>
                  <a:pt x="1174396" y="5398516"/>
                  <a:pt x="1175280" y="5415282"/>
                  <a:pt x="1153748" y="5405093"/>
                </a:cubicBezTo>
                <a:cubicBezTo>
                  <a:pt x="1157267" y="5414115"/>
                  <a:pt x="1112247" y="5408398"/>
                  <a:pt x="1121874" y="5417803"/>
                </a:cubicBezTo>
                <a:cubicBezTo>
                  <a:pt x="1107293" y="5425943"/>
                  <a:pt x="1100911" y="5412406"/>
                  <a:pt x="1086481" y="5419474"/>
                </a:cubicBezTo>
                <a:cubicBezTo>
                  <a:pt x="1070504" y="5421068"/>
                  <a:pt x="1096054" y="5409890"/>
                  <a:pt x="1078485" y="5409150"/>
                </a:cubicBezTo>
                <a:cubicBezTo>
                  <a:pt x="1057107" y="5409880"/>
                  <a:pt x="1057916" y="5393370"/>
                  <a:pt x="1040550" y="5414415"/>
                </a:cubicBezTo>
                <a:cubicBezTo>
                  <a:pt x="1018445" y="5409298"/>
                  <a:pt x="1013694" y="5418764"/>
                  <a:pt x="982981" y="5423575"/>
                </a:cubicBezTo>
                <a:cubicBezTo>
                  <a:pt x="970423" y="5418342"/>
                  <a:pt x="960063" y="5420960"/>
                  <a:pt x="949836" y="5426093"/>
                </a:cubicBezTo>
                <a:cubicBezTo>
                  <a:pt x="920168" y="5424861"/>
                  <a:pt x="892764" y="5432710"/>
                  <a:pt x="859237" y="5435973"/>
                </a:cubicBezTo>
                <a:cubicBezTo>
                  <a:pt x="823344" y="5430160"/>
                  <a:pt x="804272" y="5444731"/>
                  <a:pt x="768445" y="5448159"/>
                </a:cubicBezTo>
                <a:cubicBezTo>
                  <a:pt x="733630" y="5434899"/>
                  <a:pt x="744432" y="5468566"/>
                  <a:pt x="714393" y="5468302"/>
                </a:cubicBezTo>
                <a:cubicBezTo>
                  <a:pt x="665910" y="5456640"/>
                  <a:pt x="715197" y="5479526"/>
                  <a:pt x="639791" y="5476924"/>
                </a:cubicBezTo>
                <a:cubicBezTo>
                  <a:pt x="635590" y="5474880"/>
                  <a:pt x="626375" y="5477333"/>
                  <a:pt x="627266" y="5480260"/>
                </a:cubicBezTo>
                <a:cubicBezTo>
                  <a:pt x="622501" y="5479477"/>
                  <a:pt x="611196" y="5474127"/>
                  <a:pt x="609977" y="5478891"/>
                </a:cubicBezTo>
                <a:cubicBezTo>
                  <a:pt x="585928" y="5480121"/>
                  <a:pt x="562064" y="5478026"/>
                  <a:pt x="540688" y="5472807"/>
                </a:cubicBezTo>
                <a:cubicBezTo>
                  <a:pt x="494260" y="5482226"/>
                  <a:pt x="519722" y="5459453"/>
                  <a:pt x="486194" y="5462661"/>
                </a:cubicBezTo>
                <a:cubicBezTo>
                  <a:pt x="459222" y="5472731"/>
                  <a:pt x="449283" y="5465413"/>
                  <a:pt x="418164" y="5472485"/>
                </a:cubicBezTo>
                <a:cubicBezTo>
                  <a:pt x="407504" y="5457469"/>
                  <a:pt x="388899" y="5474930"/>
                  <a:pt x="376724" y="5470967"/>
                </a:cubicBezTo>
                <a:cubicBezTo>
                  <a:pt x="357541" y="5489409"/>
                  <a:pt x="329120" y="5456071"/>
                  <a:pt x="308908" y="5457025"/>
                </a:cubicBezTo>
                <a:cubicBezTo>
                  <a:pt x="274916" y="5461376"/>
                  <a:pt x="238368" y="5480973"/>
                  <a:pt x="219416" y="5463995"/>
                </a:cubicBezTo>
                <a:cubicBezTo>
                  <a:pt x="217077" y="5471389"/>
                  <a:pt x="220429" y="5481203"/>
                  <a:pt x="200977" y="5480608"/>
                </a:cubicBezTo>
                <a:cubicBezTo>
                  <a:pt x="193315" y="5484612"/>
                  <a:pt x="192227" y="5495868"/>
                  <a:pt x="176226" y="5491022"/>
                </a:cubicBezTo>
                <a:cubicBezTo>
                  <a:pt x="195501" y="5480307"/>
                  <a:pt x="163065" y="5480325"/>
                  <a:pt x="165702" y="5468604"/>
                </a:cubicBezTo>
                <a:cubicBezTo>
                  <a:pt x="141228" y="5462364"/>
                  <a:pt x="86026" y="5474606"/>
                  <a:pt x="88282" y="5453658"/>
                </a:cubicBezTo>
                <a:cubicBezTo>
                  <a:pt x="80722" y="5441690"/>
                  <a:pt x="50300" y="5462007"/>
                  <a:pt x="49602" y="5448762"/>
                </a:cubicBezTo>
                <a:cubicBezTo>
                  <a:pt x="42967" y="5453333"/>
                  <a:pt x="33469" y="5452380"/>
                  <a:pt x="22844" y="5450459"/>
                </a:cubicBezTo>
                <a:lnTo>
                  <a:pt x="0" y="5447653"/>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4ED46D2-9DC1-467E-9918-AD7F0EBEF5A0}"/>
              </a:ext>
            </a:extLst>
          </p:cNvPr>
          <p:cNvSpPr>
            <a:spLocks noGrp="1"/>
          </p:cNvSpPr>
          <p:nvPr>
            <p:ph type="title"/>
          </p:nvPr>
        </p:nvSpPr>
        <p:spPr>
          <a:xfrm>
            <a:off x="1470908" y="3033715"/>
            <a:ext cx="8981007" cy="1722987"/>
          </a:xfrm>
        </p:spPr>
        <p:txBody>
          <a:bodyPr>
            <a:noAutofit/>
          </a:bodyPr>
          <a:lstStyle/>
          <a:p>
            <a:pPr algn="ctr"/>
            <a:r>
              <a:rPr lang="en-US" sz="4400" b="1" spc="-151" dirty="0">
                <a:solidFill>
                  <a:srgbClr val="1F1F1F"/>
                </a:solidFill>
                <a:latin typeface="Cambria" panose="02040503050406030204" pitchFamily="18" charset="0"/>
                <a:ea typeface="Cambria" panose="02040503050406030204" pitchFamily="18" charset="0"/>
              </a:rPr>
              <a:t>SARS-</a:t>
            </a:r>
            <a:r>
              <a:rPr lang="en-US" sz="4400" b="1" spc="-140" dirty="0">
                <a:solidFill>
                  <a:srgbClr val="1F1F1F"/>
                </a:solidFill>
                <a:latin typeface="Cambria" panose="02040503050406030204" pitchFamily="18" charset="0"/>
                <a:ea typeface="Cambria" panose="02040503050406030204" pitchFamily="18" charset="0"/>
              </a:rPr>
              <a:t>CoV-</a:t>
            </a:r>
            <a:r>
              <a:rPr lang="en-US" sz="4400" b="1" dirty="0">
                <a:solidFill>
                  <a:srgbClr val="1F1F1F"/>
                </a:solidFill>
                <a:latin typeface="Cambria" panose="02040503050406030204" pitchFamily="18" charset="0"/>
                <a:ea typeface="Cambria" panose="02040503050406030204" pitchFamily="18" charset="0"/>
              </a:rPr>
              <a:t>2</a:t>
            </a:r>
            <a:r>
              <a:rPr lang="en-US" sz="4400" b="1" spc="-151" dirty="0">
                <a:solidFill>
                  <a:srgbClr val="1F1F1F"/>
                </a:solidFill>
                <a:latin typeface="Cambria" panose="02040503050406030204" pitchFamily="18" charset="0"/>
                <a:ea typeface="Cambria" panose="02040503050406030204" pitchFamily="18" charset="0"/>
              </a:rPr>
              <a:t> </a:t>
            </a:r>
            <a:r>
              <a:rPr lang="en-US" sz="4400" b="1" spc="99" dirty="0">
                <a:solidFill>
                  <a:srgbClr val="1F1F1F"/>
                </a:solidFill>
                <a:latin typeface="Cambria" panose="02040503050406030204" pitchFamily="18" charset="0"/>
                <a:ea typeface="Cambria" panose="02040503050406030204" pitchFamily="18" charset="0"/>
              </a:rPr>
              <a:t>scRNA-seq Pseudotime Trajectory Analysis</a:t>
            </a:r>
            <a:endParaRPr lang="en-US" sz="4000" dirty="0"/>
          </a:p>
        </p:txBody>
      </p:sp>
      <p:sp>
        <p:nvSpPr>
          <p:cNvPr id="21"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7525" y="561932"/>
            <a:ext cx="2447776" cy="610110"/>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2DFF5F8-EF22-7F13-CABD-50686B639482}"/>
              </a:ext>
            </a:extLst>
          </p:cNvPr>
          <p:cNvSpPr txBox="1"/>
          <p:nvPr/>
        </p:nvSpPr>
        <p:spPr>
          <a:xfrm>
            <a:off x="1879600" y="4876801"/>
            <a:ext cx="8844196" cy="646587"/>
          </a:xfrm>
          <a:prstGeom prst="rect">
            <a:avLst/>
          </a:prstGeom>
          <a:noFill/>
        </p:spPr>
        <p:txBody>
          <a:bodyPr wrap="square">
            <a:spAutoFit/>
          </a:bodyPr>
          <a:lstStyle/>
          <a:p>
            <a:r>
              <a:rPr lang="en-US" sz="1801" i="1" spc="-375" dirty="0">
                <a:solidFill>
                  <a:schemeClr val="tx1">
                    <a:lumMod val="65000"/>
                    <a:lumOff val="35000"/>
                  </a:schemeClr>
                </a:solidFill>
                <a:latin typeface="Cambria" panose="02040503050406030204" pitchFamily="18" charset="0"/>
                <a:ea typeface="Cambria" panose="02040503050406030204" pitchFamily="18" charset="0"/>
              </a:rPr>
              <a:t>A</a:t>
            </a:r>
            <a:r>
              <a:rPr lang="en-US" sz="1801" i="1" spc="30"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81" dirty="0">
                <a:solidFill>
                  <a:schemeClr val="tx1">
                    <a:lumMod val="65000"/>
                    <a:lumOff val="35000"/>
                  </a:schemeClr>
                </a:solidFill>
                <a:latin typeface="Cambria" panose="02040503050406030204" pitchFamily="18" charset="0"/>
                <a:ea typeface="Cambria" panose="02040503050406030204" pitchFamily="18" charset="0"/>
              </a:rPr>
              <a:t>single-</a:t>
            </a:r>
            <a:r>
              <a:rPr lang="en-US" sz="1801" i="1" dirty="0">
                <a:solidFill>
                  <a:schemeClr val="tx1">
                    <a:lumMod val="65000"/>
                    <a:lumOff val="35000"/>
                  </a:schemeClr>
                </a:solidFill>
                <a:latin typeface="Cambria" panose="02040503050406030204" pitchFamily="18" charset="0"/>
                <a:ea typeface="Cambria" panose="02040503050406030204" pitchFamily="18" charset="0"/>
              </a:rPr>
              <a:t>cell</a:t>
            </a:r>
            <a:r>
              <a:rPr lang="en-US" sz="1801" i="1" spc="-228"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20" dirty="0">
                <a:solidFill>
                  <a:schemeClr val="tx1">
                    <a:lumMod val="65000"/>
                    <a:lumOff val="35000"/>
                  </a:schemeClr>
                </a:solidFill>
                <a:latin typeface="Cambria" panose="02040503050406030204" pitchFamily="18" charset="0"/>
                <a:ea typeface="Cambria" panose="02040503050406030204" pitchFamily="18" charset="0"/>
              </a:rPr>
              <a:t>trajectory</a:t>
            </a:r>
            <a:r>
              <a:rPr lang="en-US" sz="1801" i="1" spc="35"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110" dirty="0">
                <a:solidFill>
                  <a:schemeClr val="tx1">
                    <a:lumMod val="65000"/>
                    <a:lumOff val="35000"/>
                  </a:schemeClr>
                </a:solidFill>
                <a:latin typeface="Cambria" panose="02040503050406030204" pitchFamily="18" charset="0"/>
                <a:ea typeface="Cambria" panose="02040503050406030204" pitchFamily="18" charset="0"/>
              </a:rPr>
              <a:t>analysis</a:t>
            </a:r>
            <a:r>
              <a:rPr lang="en-US" sz="1801" i="1" spc="-40" dirty="0">
                <a:solidFill>
                  <a:schemeClr val="tx1">
                    <a:lumMod val="65000"/>
                    <a:lumOff val="35000"/>
                  </a:schemeClr>
                </a:solidFill>
                <a:latin typeface="Cambria" panose="02040503050406030204" pitchFamily="18" charset="0"/>
                <a:ea typeface="Cambria" panose="02040503050406030204" pitchFamily="18" charset="0"/>
              </a:rPr>
              <a:t> </a:t>
            </a:r>
            <a:r>
              <a:rPr lang="en-US" sz="1801" i="1" dirty="0">
                <a:solidFill>
                  <a:schemeClr val="tx1">
                    <a:lumMod val="65000"/>
                    <a:lumOff val="35000"/>
                  </a:schemeClr>
                </a:solidFill>
                <a:latin typeface="Cambria" panose="02040503050406030204" pitchFamily="18" charset="0"/>
                <a:ea typeface="Cambria" panose="02040503050406030204" pitchFamily="18" charset="0"/>
              </a:rPr>
              <a:t>of</a:t>
            </a:r>
            <a:r>
              <a:rPr lang="en-US" sz="1801" i="1" spc="-160" dirty="0">
                <a:solidFill>
                  <a:schemeClr val="tx1">
                    <a:lumMod val="65000"/>
                    <a:lumOff val="35000"/>
                  </a:schemeClr>
                </a:solidFill>
                <a:latin typeface="Cambria" panose="02040503050406030204" pitchFamily="18" charset="0"/>
                <a:ea typeface="Cambria" panose="02040503050406030204" pitchFamily="18" charset="0"/>
              </a:rPr>
              <a:t> </a:t>
            </a:r>
            <a:r>
              <a:rPr lang="en-US" sz="1801" i="1" dirty="0">
                <a:solidFill>
                  <a:schemeClr val="tx1">
                    <a:lumMod val="65000"/>
                    <a:lumOff val="35000"/>
                  </a:schemeClr>
                </a:solidFill>
                <a:latin typeface="Cambria" panose="02040503050406030204" pitchFamily="18" charset="0"/>
                <a:ea typeface="Cambria" panose="02040503050406030204" pitchFamily="18" charset="0"/>
              </a:rPr>
              <a:t>the</a:t>
            </a:r>
            <a:r>
              <a:rPr lang="en-US" sz="1801" i="1" spc="-204"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151" dirty="0">
                <a:solidFill>
                  <a:schemeClr val="tx1">
                    <a:lumMod val="65000"/>
                    <a:lumOff val="35000"/>
                  </a:schemeClr>
                </a:solidFill>
                <a:latin typeface="Cambria" panose="02040503050406030204" pitchFamily="18" charset="0"/>
                <a:ea typeface="Cambria" panose="02040503050406030204" pitchFamily="18" charset="0"/>
              </a:rPr>
              <a:t>human</a:t>
            </a:r>
            <a:r>
              <a:rPr lang="en-US" sz="1801" i="1" spc="-60"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70" dirty="0">
                <a:solidFill>
                  <a:schemeClr val="tx1">
                    <a:lumMod val="65000"/>
                    <a:lumOff val="35000"/>
                  </a:schemeClr>
                </a:solidFill>
                <a:latin typeface="Cambria" panose="02040503050406030204" pitchFamily="18" charset="0"/>
                <a:ea typeface="Cambria" panose="02040503050406030204" pitchFamily="18" charset="0"/>
              </a:rPr>
              <a:t>airway</a:t>
            </a:r>
            <a:r>
              <a:rPr lang="en-US" sz="1801" i="1" spc="-50"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65" dirty="0">
                <a:solidFill>
                  <a:schemeClr val="tx1">
                    <a:lumMod val="65000"/>
                    <a:lumOff val="35000"/>
                  </a:schemeClr>
                </a:solidFill>
                <a:latin typeface="Cambria" panose="02040503050406030204" pitchFamily="18" charset="0"/>
                <a:ea typeface="Cambria" panose="02040503050406030204" pitchFamily="18" charset="0"/>
              </a:rPr>
              <a:t>epithelium</a:t>
            </a:r>
            <a:r>
              <a:rPr lang="en-US" sz="1801" i="1" spc="-60"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26" dirty="0">
                <a:solidFill>
                  <a:schemeClr val="tx1">
                    <a:lumMod val="65000"/>
                    <a:lumOff val="35000"/>
                  </a:schemeClr>
                </a:solidFill>
                <a:latin typeface="Cambria" panose="02040503050406030204" pitchFamily="18" charset="0"/>
                <a:ea typeface="Cambria" panose="02040503050406030204" pitchFamily="18" charset="0"/>
              </a:rPr>
              <a:t>reveals </a:t>
            </a:r>
            <a:r>
              <a:rPr lang="en-US" sz="1801" i="1" spc="-259" dirty="0">
                <a:solidFill>
                  <a:schemeClr val="tx1">
                    <a:lumMod val="65000"/>
                    <a:lumOff val="35000"/>
                  </a:schemeClr>
                </a:solidFill>
                <a:latin typeface="Cambria" panose="02040503050406030204" pitchFamily="18" charset="0"/>
                <a:ea typeface="Cambria" panose="02040503050406030204" pitchFamily="18" charset="0"/>
              </a:rPr>
              <a:t>a</a:t>
            </a:r>
            <a:r>
              <a:rPr lang="en-US" sz="1801" i="1" spc="-5"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110" dirty="0">
                <a:solidFill>
                  <a:schemeClr val="tx1">
                    <a:lumMod val="65000"/>
                    <a:lumOff val="35000"/>
                  </a:schemeClr>
                </a:solidFill>
                <a:latin typeface="Cambria" panose="02040503050406030204" pitchFamily="18" charset="0"/>
                <a:ea typeface="Cambria" panose="02040503050406030204" pitchFamily="18" charset="0"/>
              </a:rPr>
              <a:t>dual-</a:t>
            </a:r>
            <a:r>
              <a:rPr lang="en-US" sz="1801" i="1" spc="-55" dirty="0">
                <a:solidFill>
                  <a:schemeClr val="tx1">
                    <a:lumMod val="65000"/>
                    <a:lumOff val="35000"/>
                  </a:schemeClr>
                </a:solidFill>
                <a:latin typeface="Cambria" panose="02040503050406030204" pitchFamily="18" charset="0"/>
                <a:ea typeface="Cambria" panose="02040503050406030204" pitchFamily="18" charset="0"/>
              </a:rPr>
              <a:t>marker</a:t>
            </a:r>
            <a:r>
              <a:rPr lang="en-US" sz="1801" i="1" spc="-50"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70" dirty="0">
                <a:solidFill>
                  <a:schemeClr val="tx1">
                    <a:lumMod val="65000"/>
                    <a:lumOff val="35000"/>
                  </a:schemeClr>
                </a:solidFill>
                <a:latin typeface="Cambria" panose="02040503050406030204" pitchFamily="18" charset="0"/>
                <a:ea typeface="Cambria" panose="02040503050406030204" pitchFamily="18" charset="0"/>
              </a:rPr>
              <a:t>model </a:t>
            </a:r>
            <a:r>
              <a:rPr lang="en-US" sz="1801" i="1" dirty="0">
                <a:solidFill>
                  <a:schemeClr val="tx1">
                    <a:lumMod val="65000"/>
                    <a:lumOff val="35000"/>
                  </a:schemeClr>
                </a:solidFill>
                <a:latin typeface="Cambria" panose="02040503050406030204" pitchFamily="18" charset="0"/>
                <a:ea typeface="Cambria" panose="02040503050406030204" pitchFamily="18" charset="0"/>
              </a:rPr>
              <a:t>of</a:t>
            </a:r>
            <a:r>
              <a:rPr lang="en-US" sz="1801" i="1" spc="-30"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81" dirty="0">
                <a:solidFill>
                  <a:schemeClr val="tx1">
                    <a:lumMod val="65000"/>
                    <a:lumOff val="35000"/>
                  </a:schemeClr>
                </a:solidFill>
                <a:latin typeface="Cambria" panose="02040503050406030204" pitchFamily="18" charset="0"/>
                <a:ea typeface="Cambria" panose="02040503050406030204" pitchFamily="18" charset="0"/>
              </a:rPr>
              <a:t>viral</a:t>
            </a:r>
            <a:r>
              <a:rPr lang="en-US" sz="1801" i="1" spc="-145" dirty="0">
                <a:solidFill>
                  <a:schemeClr val="tx1">
                    <a:lumMod val="65000"/>
                    <a:lumOff val="35000"/>
                  </a:schemeClr>
                </a:solidFill>
                <a:latin typeface="Cambria" panose="02040503050406030204" pitchFamily="18" charset="0"/>
                <a:ea typeface="Cambria" panose="02040503050406030204" pitchFamily="18" charset="0"/>
              </a:rPr>
              <a:t> </a:t>
            </a:r>
            <a:r>
              <a:rPr lang="en-US" sz="1801" i="1" spc="-9" dirty="0">
                <a:solidFill>
                  <a:schemeClr val="tx1">
                    <a:lumMod val="65000"/>
                    <a:lumOff val="35000"/>
                  </a:schemeClr>
                </a:solidFill>
                <a:latin typeface="Cambria" panose="02040503050406030204" pitchFamily="18" charset="0"/>
                <a:ea typeface="Cambria" panose="02040503050406030204" pitchFamily="18" charset="0"/>
              </a:rPr>
              <a:t>progression.</a:t>
            </a:r>
            <a:endParaRPr lang="en-US" i="1" dirty="0">
              <a:solidFill>
                <a:schemeClr val="tx1">
                  <a:lumMod val="65000"/>
                  <a:lumOff val="35000"/>
                </a:schemeClr>
              </a:solidFill>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8F51F57F-7F51-F7A8-8483-61CA779BA52C}"/>
              </a:ext>
            </a:extLst>
          </p:cNvPr>
          <p:cNvPicPr>
            <a:picLocks noChangeAspect="1"/>
          </p:cNvPicPr>
          <p:nvPr/>
        </p:nvPicPr>
        <p:blipFill>
          <a:blip r:embed="rId4"/>
          <a:stretch>
            <a:fillRect/>
          </a:stretch>
        </p:blipFill>
        <p:spPr>
          <a:xfrm>
            <a:off x="8280401" y="7086601"/>
            <a:ext cx="2110347" cy="926586"/>
          </a:xfrm>
          <a:prstGeom prst="rect">
            <a:avLst/>
          </a:prstGeom>
        </p:spPr>
      </p:pic>
    </p:spTree>
    <p:extLst>
      <p:ext uri="{BB962C8B-B14F-4D97-AF65-F5344CB8AC3E}">
        <p14:creationId xmlns:p14="http://schemas.microsoft.com/office/powerpoint/2010/main" val="190619372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90301" y="6781800"/>
            <a:ext cx="4483099" cy="774700"/>
          </a:xfrm>
          <a:prstGeom prst="rect">
            <a:avLst/>
          </a:prstGeom>
        </p:spPr>
      </p:pic>
      <p:pic>
        <p:nvPicPr>
          <p:cNvPr id="3" name="object 3"/>
          <p:cNvPicPr/>
          <p:nvPr/>
        </p:nvPicPr>
        <p:blipFill>
          <a:blip r:embed="rId3" cstate="print"/>
          <a:stretch>
            <a:fillRect/>
          </a:stretch>
        </p:blipFill>
        <p:spPr>
          <a:xfrm>
            <a:off x="11099799" y="5168901"/>
            <a:ext cx="419100" cy="1079500"/>
          </a:xfrm>
          <a:prstGeom prst="rect">
            <a:avLst/>
          </a:prstGeom>
        </p:spPr>
      </p:pic>
      <p:pic>
        <p:nvPicPr>
          <p:cNvPr id="4" name="object 4"/>
          <p:cNvPicPr/>
          <p:nvPr/>
        </p:nvPicPr>
        <p:blipFill>
          <a:blip r:embed="rId4" cstate="print"/>
          <a:stretch>
            <a:fillRect/>
          </a:stretch>
        </p:blipFill>
        <p:spPr>
          <a:xfrm>
            <a:off x="12585700" y="5168901"/>
            <a:ext cx="406400" cy="1066800"/>
          </a:xfrm>
          <a:prstGeom prst="rect">
            <a:avLst/>
          </a:prstGeom>
        </p:spPr>
      </p:pic>
      <p:pic>
        <p:nvPicPr>
          <p:cNvPr id="5" name="object 5"/>
          <p:cNvPicPr/>
          <p:nvPr/>
        </p:nvPicPr>
        <p:blipFill>
          <a:blip r:embed="rId5" cstate="print"/>
          <a:stretch>
            <a:fillRect/>
          </a:stretch>
        </p:blipFill>
        <p:spPr>
          <a:xfrm>
            <a:off x="14058899" y="5168901"/>
            <a:ext cx="419100" cy="1079500"/>
          </a:xfrm>
          <a:prstGeom prst="rect">
            <a:avLst/>
          </a:prstGeom>
        </p:spPr>
      </p:pic>
      <p:pic>
        <p:nvPicPr>
          <p:cNvPr id="6" name="object 6"/>
          <p:cNvPicPr/>
          <p:nvPr/>
        </p:nvPicPr>
        <p:blipFill>
          <a:blip r:embed="rId6" cstate="print"/>
          <a:stretch>
            <a:fillRect/>
          </a:stretch>
        </p:blipFill>
        <p:spPr>
          <a:xfrm>
            <a:off x="15532100" y="5168901"/>
            <a:ext cx="431801" cy="1079500"/>
          </a:xfrm>
          <a:prstGeom prst="rect">
            <a:avLst/>
          </a:prstGeom>
        </p:spPr>
      </p:pic>
      <p:pic>
        <p:nvPicPr>
          <p:cNvPr id="7" name="object 7"/>
          <p:cNvPicPr/>
          <p:nvPr/>
        </p:nvPicPr>
        <p:blipFill>
          <a:blip r:embed="rId7" cstate="print"/>
          <a:stretch>
            <a:fillRect/>
          </a:stretch>
        </p:blipFill>
        <p:spPr>
          <a:xfrm>
            <a:off x="11188700" y="4279900"/>
            <a:ext cx="4673600" cy="762000"/>
          </a:xfrm>
          <a:prstGeom prst="rect">
            <a:avLst/>
          </a:prstGeom>
        </p:spPr>
      </p:pic>
      <p:pic>
        <p:nvPicPr>
          <p:cNvPr id="8" name="object 8"/>
          <p:cNvPicPr/>
          <p:nvPr/>
        </p:nvPicPr>
        <p:blipFill>
          <a:blip r:embed="rId8" cstate="print"/>
          <a:stretch>
            <a:fillRect/>
          </a:stretch>
        </p:blipFill>
        <p:spPr>
          <a:xfrm>
            <a:off x="13042900" y="2793999"/>
            <a:ext cx="977901" cy="977901"/>
          </a:xfrm>
          <a:prstGeom prst="rect">
            <a:avLst/>
          </a:prstGeom>
        </p:spPr>
      </p:pic>
      <p:pic>
        <p:nvPicPr>
          <p:cNvPr id="9" name="object 9"/>
          <p:cNvPicPr/>
          <p:nvPr/>
        </p:nvPicPr>
        <p:blipFill>
          <a:blip r:embed="rId9" cstate="print"/>
          <a:stretch>
            <a:fillRect/>
          </a:stretch>
        </p:blipFill>
        <p:spPr>
          <a:xfrm>
            <a:off x="12852401" y="917539"/>
            <a:ext cx="1714500" cy="771561"/>
          </a:xfrm>
          <a:prstGeom prst="rect">
            <a:avLst/>
          </a:prstGeom>
        </p:spPr>
      </p:pic>
      <p:pic>
        <p:nvPicPr>
          <p:cNvPr id="10" name="object 10"/>
          <p:cNvPicPr/>
          <p:nvPr/>
        </p:nvPicPr>
        <p:blipFill>
          <a:blip r:embed="rId10" cstate="print"/>
          <a:stretch>
            <a:fillRect/>
          </a:stretch>
        </p:blipFill>
        <p:spPr>
          <a:xfrm>
            <a:off x="12280901" y="7747001"/>
            <a:ext cx="952500" cy="990600"/>
          </a:xfrm>
          <a:prstGeom prst="rect">
            <a:avLst/>
          </a:prstGeom>
        </p:spPr>
      </p:pic>
      <p:pic>
        <p:nvPicPr>
          <p:cNvPr id="11" name="object 11"/>
          <p:cNvPicPr/>
          <p:nvPr/>
        </p:nvPicPr>
        <p:blipFill>
          <a:blip r:embed="rId11" cstate="print"/>
          <a:stretch>
            <a:fillRect/>
          </a:stretch>
        </p:blipFill>
        <p:spPr>
          <a:xfrm>
            <a:off x="13423900" y="2286001"/>
            <a:ext cx="215900" cy="381000"/>
          </a:xfrm>
          <a:prstGeom prst="rect">
            <a:avLst/>
          </a:prstGeom>
        </p:spPr>
      </p:pic>
      <p:pic>
        <p:nvPicPr>
          <p:cNvPr id="12" name="object 12"/>
          <p:cNvPicPr/>
          <p:nvPr/>
        </p:nvPicPr>
        <p:blipFill>
          <a:blip r:embed="rId12" cstate="print"/>
          <a:stretch>
            <a:fillRect/>
          </a:stretch>
        </p:blipFill>
        <p:spPr>
          <a:xfrm>
            <a:off x="13335000" y="7975601"/>
            <a:ext cx="1460500" cy="647700"/>
          </a:xfrm>
          <a:prstGeom prst="rect">
            <a:avLst/>
          </a:prstGeom>
        </p:spPr>
      </p:pic>
      <p:sp>
        <p:nvSpPr>
          <p:cNvPr id="13" name="object 13"/>
          <p:cNvSpPr txBox="1">
            <a:spLocks noGrp="1"/>
          </p:cNvSpPr>
          <p:nvPr>
            <p:ph type="title"/>
          </p:nvPr>
        </p:nvSpPr>
        <p:spPr>
          <a:xfrm>
            <a:off x="159146" y="91630"/>
            <a:ext cx="15222480" cy="698909"/>
          </a:xfrm>
          <a:prstGeom prst="rect">
            <a:avLst/>
          </a:prstGeom>
        </p:spPr>
        <p:txBody>
          <a:bodyPr vert="horz" wrap="square" lIns="0" tIns="143510" rIns="0" bIns="0" rtlCol="0">
            <a:spAutoFit/>
          </a:bodyPr>
          <a:lstStyle/>
          <a:p>
            <a:pPr marL="12700" marR="5081" indent="11430">
              <a:spcBef>
                <a:spcPts val="1130"/>
              </a:spcBef>
            </a:pPr>
            <a:r>
              <a:rPr sz="3600" b="1" spc="-245" dirty="0">
                <a:solidFill>
                  <a:srgbClr val="2B2B2B"/>
                </a:solidFill>
                <a:latin typeface="Cambria" panose="02040503050406030204" pitchFamily="18" charset="0"/>
                <a:ea typeface="Cambria" panose="02040503050406030204" pitchFamily="18" charset="0"/>
              </a:rPr>
              <a:t>How</a:t>
            </a:r>
            <a:r>
              <a:rPr sz="3600" b="1" spc="-325" dirty="0">
                <a:solidFill>
                  <a:srgbClr val="2B2B2B"/>
                </a:solidFill>
                <a:latin typeface="Cambria" panose="02040503050406030204" pitchFamily="18" charset="0"/>
                <a:ea typeface="Cambria" panose="02040503050406030204" pitchFamily="18" charset="0"/>
              </a:rPr>
              <a:t> </a:t>
            </a:r>
            <a:r>
              <a:rPr sz="3600" b="1" spc="-275" dirty="0">
                <a:solidFill>
                  <a:srgbClr val="2A2A2A"/>
                </a:solidFill>
                <a:latin typeface="Cambria" panose="02040503050406030204" pitchFamily="18" charset="0"/>
                <a:ea typeface="Cambria" panose="02040503050406030204" pitchFamily="18" charset="0"/>
              </a:rPr>
              <a:t>ca</a:t>
            </a:r>
            <a:r>
              <a:rPr lang="fr-FR" sz="3600" b="1" spc="-275" dirty="0">
                <a:solidFill>
                  <a:srgbClr val="2A2A2A"/>
                </a:solidFill>
                <a:latin typeface="Cambria" panose="02040503050406030204" pitchFamily="18" charset="0"/>
                <a:ea typeface="Cambria" panose="02040503050406030204" pitchFamily="18" charset="0"/>
              </a:rPr>
              <a:t>n</a:t>
            </a:r>
            <a:r>
              <a:rPr sz="3600" b="1" spc="-44" dirty="0">
                <a:solidFill>
                  <a:srgbClr val="2A2A2A"/>
                </a:solidFill>
                <a:latin typeface="Cambria" panose="02040503050406030204" pitchFamily="18" charset="0"/>
                <a:ea typeface="Cambria" panose="02040503050406030204" pitchFamily="18" charset="0"/>
              </a:rPr>
              <a:t> </a:t>
            </a:r>
            <a:r>
              <a:rPr sz="3600" b="1" spc="-228" dirty="0">
                <a:solidFill>
                  <a:srgbClr val="2B2B2B"/>
                </a:solidFill>
                <a:latin typeface="Cambria" panose="02040503050406030204" pitchFamily="18" charset="0"/>
                <a:ea typeface="Cambria" panose="02040503050406030204" pitchFamily="18" charset="0"/>
              </a:rPr>
              <a:t>we</a:t>
            </a:r>
            <a:r>
              <a:rPr sz="3600" b="1" spc="-575" dirty="0">
                <a:solidFill>
                  <a:srgbClr val="2B2B2B"/>
                </a:solidFill>
                <a:latin typeface="Cambria" panose="02040503050406030204" pitchFamily="18" charset="0"/>
                <a:ea typeface="Cambria" panose="02040503050406030204" pitchFamily="18" charset="0"/>
              </a:rPr>
              <a:t> </a:t>
            </a:r>
            <a:r>
              <a:rPr lang="fr-FR" sz="3600" b="1" spc="-575" dirty="0">
                <a:solidFill>
                  <a:srgbClr val="2B2B2B"/>
                </a:solidFill>
                <a:latin typeface="Cambria" panose="02040503050406030204" pitchFamily="18" charset="0"/>
                <a:ea typeface="Cambria" panose="02040503050406030204" pitchFamily="18" charset="0"/>
              </a:rPr>
              <a:t>  </a:t>
            </a:r>
            <a:r>
              <a:rPr sz="3600" b="1" spc="-235" dirty="0">
                <a:solidFill>
                  <a:srgbClr val="2A2A2A"/>
                </a:solidFill>
                <a:latin typeface="Cambria" panose="02040503050406030204" pitchFamily="18" charset="0"/>
                <a:ea typeface="Cambria" panose="02040503050406030204" pitchFamily="18" charset="0"/>
              </a:rPr>
              <a:t>map</a:t>
            </a:r>
            <a:r>
              <a:rPr sz="3600" b="1" spc="-380" dirty="0">
                <a:solidFill>
                  <a:srgbClr val="2A2A2A"/>
                </a:solidFill>
                <a:latin typeface="Cambria" panose="02040503050406030204" pitchFamily="18" charset="0"/>
                <a:ea typeface="Cambria" panose="02040503050406030204" pitchFamily="18" charset="0"/>
              </a:rPr>
              <a:t> </a:t>
            </a:r>
            <a:r>
              <a:rPr lang="fr-FR" sz="3600" b="1" spc="-380" dirty="0">
                <a:solidFill>
                  <a:srgbClr val="2A2A2A"/>
                </a:solidFill>
                <a:latin typeface="Cambria" panose="02040503050406030204" pitchFamily="18" charset="0"/>
                <a:ea typeface="Cambria" panose="02040503050406030204" pitchFamily="18" charset="0"/>
              </a:rPr>
              <a:t> </a:t>
            </a:r>
            <a:r>
              <a:rPr sz="3600" b="1" spc="99" dirty="0">
                <a:solidFill>
                  <a:srgbClr val="262626"/>
                </a:solidFill>
                <a:latin typeface="Cambria" panose="02040503050406030204" pitchFamily="18" charset="0"/>
                <a:ea typeface="Cambria" panose="02040503050406030204" pitchFamily="18" charset="0"/>
              </a:rPr>
              <a:t>the </a:t>
            </a:r>
            <a:r>
              <a:rPr sz="3600" b="1" spc="-60" dirty="0">
                <a:solidFill>
                  <a:srgbClr val="262626"/>
                </a:solidFill>
                <a:latin typeface="Cambria" panose="02040503050406030204" pitchFamily="18" charset="0"/>
                <a:ea typeface="Cambria" panose="02040503050406030204" pitchFamily="18" charset="0"/>
              </a:rPr>
              <a:t>cellular-level</a:t>
            </a:r>
            <a:r>
              <a:rPr sz="3600" b="1" spc="-830" dirty="0">
                <a:solidFill>
                  <a:srgbClr val="262626"/>
                </a:solidFill>
                <a:latin typeface="Cambria" panose="02040503050406030204" pitchFamily="18" charset="0"/>
                <a:ea typeface="Cambria" panose="02040503050406030204" pitchFamily="18" charset="0"/>
              </a:rPr>
              <a:t> </a:t>
            </a:r>
            <a:r>
              <a:rPr sz="3600" b="1" spc="-40" dirty="0">
                <a:solidFill>
                  <a:srgbClr val="262626"/>
                </a:solidFill>
                <a:latin typeface="Cambria" panose="02040503050406030204" pitchFamily="18" charset="0"/>
                <a:ea typeface="Cambria" panose="02040503050406030204" pitchFamily="18" charset="0"/>
              </a:rPr>
              <a:t>impact</a:t>
            </a:r>
            <a:r>
              <a:rPr sz="3600" b="1" spc="-235" dirty="0">
                <a:solidFill>
                  <a:srgbClr val="262626"/>
                </a:solidFill>
                <a:latin typeface="Cambria" panose="02040503050406030204" pitchFamily="18" charset="0"/>
                <a:ea typeface="Cambria" panose="02040503050406030204" pitchFamily="18" charset="0"/>
              </a:rPr>
              <a:t> </a:t>
            </a:r>
            <a:r>
              <a:rPr sz="3600" b="1" spc="130" dirty="0">
                <a:solidFill>
                  <a:srgbClr val="262626"/>
                </a:solidFill>
                <a:latin typeface="Cambria" panose="02040503050406030204" pitchFamily="18" charset="0"/>
                <a:ea typeface="Cambria" panose="02040503050406030204" pitchFamily="18" charset="0"/>
              </a:rPr>
              <a:t>of </a:t>
            </a:r>
            <a:r>
              <a:rPr sz="3600" b="1" spc="-540" dirty="0">
                <a:solidFill>
                  <a:srgbClr val="262626"/>
                </a:solidFill>
                <a:latin typeface="Cambria" panose="02040503050406030204" pitchFamily="18" charset="0"/>
                <a:ea typeface="Cambria" panose="02040503050406030204" pitchFamily="18" charset="0"/>
              </a:rPr>
              <a:t>SARS-</a:t>
            </a:r>
            <a:r>
              <a:rPr sz="3600" b="1" spc="-505" dirty="0">
                <a:solidFill>
                  <a:srgbClr val="262626"/>
                </a:solidFill>
                <a:latin typeface="Cambria" panose="02040503050406030204" pitchFamily="18" charset="0"/>
                <a:ea typeface="Cambria" panose="02040503050406030204" pitchFamily="18" charset="0"/>
              </a:rPr>
              <a:t>CoV-</a:t>
            </a:r>
            <a:r>
              <a:rPr lang="fr-FR" sz="3600" b="1" spc="-484" dirty="0">
                <a:solidFill>
                  <a:srgbClr val="262626"/>
                </a:solidFill>
                <a:latin typeface="Cambria" panose="02040503050406030204" pitchFamily="18" charset="0"/>
                <a:ea typeface="Cambria" panose="02040503050406030204" pitchFamily="18" charset="0"/>
              </a:rPr>
              <a:t>2</a:t>
            </a:r>
            <a:r>
              <a:rPr sz="3600" b="1" spc="270" dirty="0">
                <a:solidFill>
                  <a:srgbClr val="262626"/>
                </a:solidFill>
                <a:latin typeface="Cambria" panose="02040503050406030204" pitchFamily="18" charset="0"/>
                <a:ea typeface="Cambria" panose="02040503050406030204" pitchFamily="18" charset="0"/>
              </a:rPr>
              <a:t> </a:t>
            </a:r>
            <a:r>
              <a:rPr sz="3600" b="1" spc="-195" dirty="0">
                <a:solidFill>
                  <a:srgbClr val="282828"/>
                </a:solidFill>
                <a:latin typeface="Cambria" panose="02040503050406030204" pitchFamily="18" charset="0"/>
                <a:ea typeface="Cambria" panose="02040503050406030204" pitchFamily="18" charset="0"/>
              </a:rPr>
              <a:t>over</a:t>
            </a:r>
            <a:r>
              <a:rPr sz="3600" b="1" spc="-165" dirty="0">
                <a:solidFill>
                  <a:srgbClr val="282828"/>
                </a:solidFill>
                <a:latin typeface="Cambria" panose="02040503050406030204" pitchFamily="18" charset="0"/>
                <a:ea typeface="Cambria" panose="02040503050406030204" pitchFamily="18" charset="0"/>
              </a:rPr>
              <a:t> </a:t>
            </a:r>
            <a:r>
              <a:rPr sz="3600" b="1" spc="-9" dirty="0">
                <a:solidFill>
                  <a:srgbClr val="242424"/>
                </a:solidFill>
                <a:latin typeface="Cambria" panose="02040503050406030204" pitchFamily="18" charset="0"/>
                <a:ea typeface="Cambria" panose="02040503050406030204" pitchFamily="18" charset="0"/>
              </a:rPr>
              <a:t>time?</a:t>
            </a:r>
            <a:endParaRPr sz="3600" b="1" dirty="0">
              <a:latin typeface="Cambria" panose="02040503050406030204" pitchFamily="18" charset="0"/>
              <a:ea typeface="Cambria" panose="02040503050406030204" pitchFamily="18" charset="0"/>
            </a:endParaRPr>
          </a:p>
        </p:txBody>
      </p:sp>
      <p:sp>
        <p:nvSpPr>
          <p:cNvPr id="15" name="object 15"/>
          <p:cNvSpPr txBox="1"/>
          <p:nvPr/>
        </p:nvSpPr>
        <p:spPr>
          <a:xfrm>
            <a:off x="677890" y="2372172"/>
            <a:ext cx="9181109" cy="5009256"/>
          </a:xfrm>
          <a:prstGeom prst="rect">
            <a:avLst/>
          </a:prstGeom>
        </p:spPr>
        <p:txBody>
          <a:bodyPr vert="horz" wrap="square" lIns="0" tIns="140335" rIns="0" bIns="0" rtlCol="0">
            <a:spAutoFit/>
          </a:bodyPr>
          <a:lstStyle/>
          <a:p>
            <a:pPr marL="469927" indent="-457225" algn="just">
              <a:lnSpc>
                <a:spcPct val="150000"/>
              </a:lnSpc>
              <a:spcBef>
                <a:spcPts val="1105"/>
              </a:spcBef>
              <a:buFont typeface="Wingdings" panose="05000000000000000000" pitchFamily="2" charset="2"/>
              <a:buChar char="q"/>
            </a:pPr>
            <a:r>
              <a:rPr sz="2800" spc="-215" dirty="0">
                <a:solidFill>
                  <a:srgbClr val="1F1F1F"/>
                </a:solidFill>
                <a:latin typeface="Cambria" panose="02040503050406030204" pitchFamily="18" charset="0"/>
                <a:ea typeface="Cambria" panose="02040503050406030204" pitchFamily="18" charset="0"/>
                <a:cs typeface="Arial MT"/>
              </a:rPr>
              <a:t>Key</a:t>
            </a:r>
            <a:r>
              <a:rPr sz="2800" dirty="0">
                <a:solidFill>
                  <a:srgbClr val="1F1F1F"/>
                </a:solidFill>
                <a:latin typeface="Cambria" panose="02040503050406030204" pitchFamily="18" charset="0"/>
                <a:ea typeface="Cambria" panose="02040503050406030204" pitchFamily="18" charset="0"/>
                <a:cs typeface="Arial MT"/>
              </a:rPr>
              <a:t> </a:t>
            </a:r>
            <a:r>
              <a:rPr sz="2800" spc="-60" dirty="0">
                <a:solidFill>
                  <a:srgbClr val="161616"/>
                </a:solidFill>
                <a:latin typeface="Cambria" panose="02040503050406030204" pitchFamily="18" charset="0"/>
                <a:ea typeface="Cambria" panose="02040503050406030204" pitchFamily="18" charset="0"/>
                <a:cs typeface="Arial MT"/>
              </a:rPr>
              <a:t>Experimental</a:t>
            </a:r>
            <a:r>
              <a:rPr sz="2800" spc="-95" dirty="0">
                <a:solidFill>
                  <a:srgbClr val="161616"/>
                </a:solidFill>
                <a:latin typeface="Cambria" panose="02040503050406030204" pitchFamily="18" charset="0"/>
                <a:ea typeface="Cambria" panose="02040503050406030204" pitchFamily="18" charset="0"/>
                <a:cs typeface="Arial MT"/>
              </a:rPr>
              <a:t> </a:t>
            </a:r>
            <a:r>
              <a:rPr sz="2800" spc="-9" dirty="0">
                <a:solidFill>
                  <a:srgbClr val="181818"/>
                </a:solidFill>
                <a:latin typeface="Cambria" panose="02040503050406030204" pitchFamily="18" charset="0"/>
                <a:ea typeface="Cambria" panose="02040503050406030204" pitchFamily="18" charset="0"/>
                <a:cs typeface="Arial MT"/>
              </a:rPr>
              <a:t>Details</a:t>
            </a:r>
            <a:endParaRPr sz="2800" dirty="0">
              <a:latin typeface="Cambria" panose="02040503050406030204" pitchFamily="18" charset="0"/>
              <a:ea typeface="Cambria" panose="02040503050406030204" pitchFamily="18" charset="0"/>
              <a:cs typeface="Arial MT"/>
            </a:endParaRPr>
          </a:p>
          <a:p>
            <a:pPr marL="630273" lvl="1" indent="-331807" algn="just">
              <a:lnSpc>
                <a:spcPct val="150000"/>
              </a:lnSpc>
              <a:spcBef>
                <a:spcPts val="941"/>
              </a:spcBef>
              <a:buChar char="•"/>
            </a:pPr>
            <a:r>
              <a:rPr sz="2800" spc="-26" dirty="0">
                <a:latin typeface="Cambria" panose="02040503050406030204" pitchFamily="18" charset="0"/>
                <a:ea typeface="Cambria" panose="02040503050406030204" pitchFamily="18" charset="0"/>
                <a:cs typeface="Arial MT"/>
              </a:rPr>
              <a:t>System:</a:t>
            </a:r>
            <a:r>
              <a:rPr sz="2800" spc="-151" dirty="0">
                <a:latin typeface="Cambria" panose="02040503050406030204" pitchFamily="18" charset="0"/>
                <a:ea typeface="Cambria" panose="02040503050406030204" pitchFamily="18" charset="0"/>
                <a:cs typeface="Arial MT"/>
              </a:rPr>
              <a:t> </a:t>
            </a:r>
            <a:r>
              <a:rPr sz="2800" spc="-134" dirty="0">
                <a:latin typeface="Cambria" panose="02040503050406030204" pitchFamily="18" charset="0"/>
                <a:ea typeface="Cambria" panose="02040503050406030204" pitchFamily="18" charset="0"/>
                <a:cs typeface="Arial MT"/>
              </a:rPr>
              <a:t>Human</a:t>
            </a:r>
            <a:r>
              <a:rPr sz="2800" spc="-9" dirty="0">
                <a:latin typeface="Cambria" panose="02040503050406030204" pitchFamily="18" charset="0"/>
                <a:ea typeface="Cambria" panose="02040503050406030204" pitchFamily="18" charset="0"/>
                <a:cs typeface="Arial MT"/>
              </a:rPr>
              <a:t> </a:t>
            </a:r>
            <a:r>
              <a:rPr sz="2800" spc="-95" dirty="0">
                <a:latin typeface="Cambria" panose="02040503050406030204" pitchFamily="18" charset="0"/>
                <a:ea typeface="Cambria" panose="02040503050406030204" pitchFamily="18" charset="0"/>
                <a:cs typeface="Arial MT"/>
              </a:rPr>
              <a:t>Bronchial</a:t>
            </a:r>
            <a:r>
              <a:rPr sz="2800" spc="-99" dirty="0">
                <a:latin typeface="Cambria" panose="02040503050406030204" pitchFamily="18" charset="0"/>
                <a:ea typeface="Cambria" panose="02040503050406030204" pitchFamily="18" charset="0"/>
                <a:cs typeface="Arial MT"/>
              </a:rPr>
              <a:t> </a:t>
            </a:r>
            <a:r>
              <a:rPr sz="2800" spc="-70" dirty="0">
                <a:latin typeface="Cambria" panose="02040503050406030204" pitchFamily="18" charset="0"/>
                <a:ea typeface="Cambria" panose="02040503050406030204" pitchFamily="18" charset="0"/>
                <a:cs typeface="Arial MT"/>
              </a:rPr>
              <a:t>Epithelial</a:t>
            </a:r>
            <a:r>
              <a:rPr sz="2800" spc="-30" dirty="0">
                <a:latin typeface="Cambria" panose="02040503050406030204" pitchFamily="18" charset="0"/>
                <a:ea typeface="Cambria" panose="02040503050406030204" pitchFamily="18" charset="0"/>
                <a:cs typeface="Arial MT"/>
              </a:rPr>
              <a:t> </a:t>
            </a:r>
            <a:r>
              <a:rPr sz="2800" spc="-95" dirty="0">
                <a:latin typeface="Cambria" panose="02040503050406030204" pitchFamily="18" charset="0"/>
                <a:ea typeface="Cambria" panose="02040503050406030204" pitchFamily="18" charset="0"/>
                <a:cs typeface="Arial MT"/>
              </a:rPr>
              <a:t>Cells</a:t>
            </a:r>
            <a:r>
              <a:rPr sz="2800" spc="-75" dirty="0">
                <a:latin typeface="Cambria" panose="02040503050406030204" pitchFamily="18" charset="0"/>
                <a:ea typeface="Cambria" panose="02040503050406030204" pitchFamily="18" charset="0"/>
                <a:cs typeface="Arial MT"/>
              </a:rPr>
              <a:t> </a:t>
            </a:r>
            <a:r>
              <a:rPr sz="2800" spc="-95" dirty="0">
                <a:latin typeface="Cambria" panose="02040503050406030204" pitchFamily="18" charset="0"/>
                <a:ea typeface="Cambria" panose="02040503050406030204" pitchFamily="18" charset="0"/>
                <a:cs typeface="Arial MT"/>
              </a:rPr>
              <a:t>(HBECs)</a:t>
            </a:r>
            <a:endParaRPr sz="2800" dirty="0">
              <a:latin typeface="Cambria" panose="02040503050406030204" pitchFamily="18" charset="0"/>
              <a:ea typeface="Cambria" panose="02040503050406030204" pitchFamily="18" charset="0"/>
              <a:cs typeface="Arial MT"/>
            </a:endParaRPr>
          </a:p>
          <a:p>
            <a:pPr marL="630273" marR="863014" lvl="1" indent="-331807" algn="just">
              <a:lnSpc>
                <a:spcPct val="150000"/>
              </a:lnSpc>
              <a:spcBef>
                <a:spcPts val="1170"/>
              </a:spcBef>
              <a:buChar char="•"/>
            </a:pPr>
            <a:r>
              <a:rPr sz="2800" dirty="0">
                <a:latin typeface="Cambria" panose="02040503050406030204" pitchFamily="18" charset="0"/>
                <a:ea typeface="Cambria" panose="02040503050406030204" pitchFamily="18" charset="0"/>
                <a:cs typeface="Arial MT"/>
              </a:rPr>
              <a:t>Timepoints:</a:t>
            </a:r>
            <a:r>
              <a:rPr sz="2800" spc="160"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Mock</a:t>
            </a:r>
            <a:r>
              <a:rPr sz="2800" spc="285"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(uninfected</a:t>
            </a:r>
            <a:r>
              <a:rPr sz="2800" spc="296"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control),</a:t>
            </a:r>
            <a:r>
              <a:rPr sz="2800" spc="-9"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1</a:t>
            </a:r>
            <a:r>
              <a:rPr sz="2800" spc="-165" dirty="0">
                <a:latin typeface="Cambria" panose="02040503050406030204" pitchFamily="18" charset="0"/>
                <a:ea typeface="Cambria" panose="02040503050406030204" pitchFamily="18" charset="0"/>
                <a:cs typeface="Arial MT"/>
              </a:rPr>
              <a:t> </a:t>
            </a:r>
            <a:r>
              <a:rPr sz="2800" spc="-30" dirty="0">
                <a:latin typeface="Cambria" panose="02040503050406030204" pitchFamily="18" charset="0"/>
                <a:ea typeface="Cambria" panose="02040503050406030204" pitchFamily="18" charset="0"/>
                <a:cs typeface="Arial MT"/>
              </a:rPr>
              <a:t>Day </a:t>
            </a:r>
            <a:r>
              <a:rPr sz="2800" dirty="0">
                <a:latin typeface="Cambria" panose="02040503050406030204" pitchFamily="18" charset="0"/>
                <a:ea typeface="Cambria" panose="02040503050406030204" pitchFamily="18" charset="0"/>
                <a:cs typeface="Arial MT"/>
              </a:rPr>
              <a:t>Post-Infection</a:t>
            </a:r>
            <a:r>
              <a:rPr sz="2800" spc="-160"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a:t>
            </a:r>
            <a:r>
              <a:rPr lang="fr-FR" sz="2800" dirty="0">
                <a:latin typeface="Cambria" panose="02040503050406030204" pitchFamily="18" charset="0"/>
                <a:ea typeface="Cambria" panose="02040503050406030204" pitchFamily="18" charset="0"/>
                <a:cs typeface="Arial MT"/>
              </a:rPr>
              <a:t>1</a:t>
            </a:r>
            <a:r>
              <a:rPr sz="2800" dirty="0">
                <a:latin typeface="Cambria" panose="02040503050406030204" pitchFamily="18" charset="0"/>
                <a:ea typeface="Cambria" panose="02040503050406030204" pitchFamily="18" charset="0"/>
                <a:cs typeface="Arial MT"/>
              </a:rPr>
              <a:t>dpi),</a:t>
            </a:r>
            <a:r>
              <a:rPr sz="2800" spc="130"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2</a:t>
            </a:r>
            <a:r>
              <a:rPr sz="2800" spc="65"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dpi,</a:t>
            </a:r>
            <a:r>
              <a:rPr sz="2800" spc="20"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and</a:t>
            </a:r>
            <a:r>
              <a:rPr sz="2800" spc="140"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3</a:t>
            </a:r>
            <a:r>
              <a:rPr sz="2800" spc="-30" dirty="0">
                <a:latin typeface="Cambria" panose="02040503050406030204" pitchFamily="18" charset="0"/>
                <a:ea typeface="Cambria" panose="02040503050406030204" pitchFamily="18" charset="0"/>
                <a:cs typeface="Arial MT"/>
              </a:rPr>
              <a:t> </a:t>
            </a:r>
            <a:r>
              <a:rPr sz="2800" spc="-20" dirty="0">
                <a:latin typeface="Cambria" panose="02040503050406030204" pitchFamily="18" charset="0"/>
                <a:ea typeface="Cambria" panose="02040503050406030204" pitchFamily="18" charset="0"/>
                <a:cs typeface="Arial MT"/>
              </a:rPr>
              <a:t>dpi.</a:t>
            </a:r>
            <a:endParaRPr sz="2800" dirty="0">
              <a:latin typeface="Cambria" panose="02040503050406030204" pitchFamily="18" charset="0"/>
              <a:ea typeface="Cambria" panose="02040503050406030204" pitchFamily="18" charset="0"/>
              <a:cs typeface="Arial MT"/>
            </a:endParaRPr>
          </a:p>
          <a:p>
            <a:pPr marL="630273" marR="5081" lvl="1" indent="-331807" algn="just">
              <a:lnSpc>
                <a:spcPct val="150000"/>
              </a:lnSpc>
              <a:spcBef>
                <a:spcPts val="1200"/>
              </a:spcBef>
              <a:buChar char="•"/>
            </a:pPr>
            <a:r>
              <a:rPr sz="2800" dirty="0">
                <a:latin typeface="Cambria" panose="02040503050406030204" pitchFamily="18" charset="0"/>
                <a:ea typeface="Cambria" panose="02040503050406030204" pitchFamily="18" charset="0"/>
                <a:cs typeface="Arial MT"/>
              </a:rPr>
              <a:t>Objective:</a:t>
            </a:r>
            <a:r>
              <a:rPr sz="2800" spc="-90" dirty="0">
                <a:latin typeface="Cambria" panose="02040503050406030204" pitchFamily="18" charset="0"/>
                <a:ea typeface="Cambria" panose="02040503050406030204" pitchFamily="18" charset="0"/>
                <a:cs typeface="Arial MT"/>
              </a:rPr>
              <a:t> </a:t>
            </a:r>
            <a:r>
              <a:rPr sz="2800" spc="-245" dirty="0">
                <a:latin typeface="Cambria" panose="02040503050406030204" pitchFamily="18" charset="0"/>
                <a:ea typeface="Cambria" panose="02040503050406030204" pitchFamily="18" charset="0"/>
                <a:cs typeface="Arial MT"/>
              </a:rPr>
              <a:t>To</a:t>
            </a:r>
            <a:r>
              <a:rPr sz="2800" spc="44" dirty="0">
                <a:latin typeface="Cambria" panose="02040503050406030204" pitchFamily="18" charset="0"/>
                <a:ea typeface="Cambria" panose="02040503050406030204" pitchFamily="18" charset="0"/>
                <a:cs typeface="Arial MT"/>
              </a:rPr>
              <a:t> </a:t>
            </a:r>
            <a:r>
              <a:rPr sz="2800" spc="-9" dirty="0">
                <a:latin typeface="Cambria" panose="02040503050406030204" pitchFamily="18" charset="0"/>
                <a:ea typeface="Cambria" panose="02040503050406030204" pitchFamily="18" charset="0"/>
                <a:cs typeface="Arial MT"/>
              </a:rPr>
              <a:t>build</a:t>
            </a:r>
            <a:r>
              <a:rPr sz="2800" spc="35" dirty="0">
                <a:latin typeface="Cambria" panose="02040503050406030204" pitchFamily="18" charset="0"/>
                <a:ea typeface="Cambria" panose="02040503050406030204" pitchFamily="18" charset="0"/>
                <a:cs typeface="Arial MT"/>
              </a:rPr>
              <a:t> </a:t>
            </a:r>
            <a:r>
              <a:rPr sz="2800" spc="-254" dirty="0">
                <a:latin typeface="Cambria" panose="02040503050406030204" pitchFamily="18" charset="0"/>
                <a:ea typeface="Cambria" panose="02040503050406030204" pitchFamily="18" charset="0"/>
                <a:cs typeface="Arial MT"/>
              </a:rPr>
              <a:t>a</a:t>
            </a:r>
            <a:r>
              <a:rPr sz="2800" spc="5" dirty="0">
                <a:latin typeface="Cambria" panose="02040503050406030204" pitchFamily="18" charset="0"/>
                <a:ea typeface="Cambria" panose="02040503050406030204" pitchFamily="18" charset="0"/>
                <a:cs typeface="Arial MT"/>
              </a:rPr>
              <a:t> </a:t>
            </a:r>
            <a:r>
              <a:rPr sz="2800" spc="-44" dirty="0">
                <a:latin typeface="Cambria" panose="02040503050406030204" pitchFamily="18" charset="0"/>
                <a:ea typeface="Cambria" panose="02040503050406030204" pitchFamily="18" charset="0"/>
                <a:cs typeface="Arial MT"/>
              </a:rPr>
              <a:t>dynamic,</a:t>
            </a:r>
            <a:r>
              <a:rPr sz="2800" spc="26" dirty="0">
                <a:latin typeface="Cambria" panose="02040503050406030204" pitchFamily="18" charset="0"/>
                <a:ea typeface="Cambria" panose="02040503050406030204" pitchFamily="18" charset="0"/>
                <a:cs typeface="Arial MT"/>
              </a:rPr>
              <a:t> </a:t>
            </a:r>
            <a:r>
              <a:rPr sz="2800" spc="-26" dirty="0">
                <a:latin typeface="Cambria" panose="02040503050406030204" pitchFamily="18" charset="0"/>
                <a:ea typeface="Cambria" panose="02040503050406030204" pitchFamily="18" charset="0"/>
                <a:cs typeface="Arial MT"/>
              </a:rPr>
              <a:t>high-</a:t>
            </a:r>
            <a:r>
              <a:rPr sz="2800" spc="-20" dirty="0">
                <a:latin typeface="Cambria" panose="02040503050406030204" pitchFamily="18" charset="0"/>
                <a:ea typeface="Cambria" panose="02040503050406030204" pitchFamily="18" charset="0"/>
                <a:cs typeface="Arial MT"/>
              </a:rPr>
              <a:t>resolution</a:t>
            </a:r>
            <a:r>
              <a:rPr sz="2800" spc="-165" dirty="0">
                <a:latin typeface="Cambria" panose="02040503050406030204" pitchFamily="18" charset="0"/>
                <a:ea typeface="Cambria" panose="02040503050406030204" pitchFamily="18" charset="0"/>
                <a:cs typeface="Arial MT"/>
              </a:rPr>
              <a:t> </a:t>
            </a:r>
            <a:r>
              <a:rPr sz="2800" spc="-26" dirty="0">
                <a:latin typeface="Cambria" panose="02040503050406030204" pitchFamily="18" charset="0"/>
                <a:ea typeface="Cambria" panose="02040503050406030204" pitchFamily="18" charset="0"/>
                <a:cs typeface="Arial MT"/>
              </a:rPr>
              <a:t>map 	</a:t>
            </a:r>
            <a:r>
              <a:rPr sz="2800" dirty="0">
                <a:latin typeface="Cambria" panose="02040503050406030204" pitchFamily="18" charset="0"/>
                <a:ea typeface="Cambria" panose="02040503050406030204" pitchFamily="18" charset="0"/>
                <a:cs typeface="Arial MT"/>
              </a:rPr>
              <a:t>of</a:t>
            </a:r>
            <a:r>
              <a:rPr sz="2800" spc="75"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the</a:t>
            </a:r>
            <a:r>
              <a:rPr sz="2800" spc="75"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transcriptional</a:t>
            </a:r>
            <a:r>
              <a:rPr sz="2800" spc="-65"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changes</a:t>
            </a:r>
            <a:r>
              <a:rPr sz="2800" spc="160"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that</a:t>
            </a:r>
            <a:r>
              <a:rPr sz="2800" spc="55"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occur</a:t>
            </a:r>
            <a:r>
              <a:rPr sz="2800" spc="151"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as</a:t>
            </a:r>
            <a:r>
              <a:rPr sz="2800" spc="-26" dirty="0">
                <a:latin typeface="Cambria" panose="02040503050406030204" pitchFamily="18" charset="0"/>
                <a:ea typeface="Cambria" panose="02040503050406030204" pitchFamily="18" charset="0"/>
                <a:cs typeface="Arial MT"/>
              </a:rPr>
              <a:t> the 	</a:t>
            </a:r>
            <a:r>
              <a:rPr sz="2800" dirty="0">
                <a:latin typeface="Cambria" panose="02040503050406030204" pitchFamily="18" charset="0"/>
                <a:ea typeface="Cambria" panose="02040503050406030204" pitchFamily="18" charset="0"/>
                <a:cs typeface="Arial MT"/>
              </a:rPr>
              <a:t>infection</a:t>
            </a:r>
            <a:r>
              <a:rPr sz="2800" spc="140" dirty="0">
                <a:latin typeface="Cambria" panose="02040503050406030204" pitchFamily="18" charset="0"/>
                <a:ea typeface="Cambria" panose="02040503050406030204" pitchFamily="18" charset="0"/>
                <a:cs typeface="Arial MT"/>
              </a:rPr>
              <a:t> </a:t>
            </a:r>
            <a:r>
              <a:rPr sz="2800" dirty="0">
                <a:latin typeface="Cambria" panose="02040503050406030204" pitchFamily="18" charset="0"/>
                <a:ea typeface="Cambria" panose="02040503050406030204" pitchFamily="18" charset="0"/>
                <a:cs typeface="Arial MT"/>
              </a:rPr>
              <a:t>takes </a:t>
            </a:r>
            <a:r>
              <a:rPr sz="2800" spc="-9" dirty="0">
                <a:latin typeface="Cambria" panose="02040503050406030204" pitchFamily="18" charset="0"/>
                <a:ea typeface="Cambria" panose="02040503050406030204" pitchFamily="18" charset="0"/>
                <a:cs typeface="Arial MT"/>
              </a:rPr>
              <a:t>hold.</a:t>
            </a:r>
            <a:endParaRPr sz="2800" dirty="0">
              <a:latin typeface="Cambria" panose="02040503050406030204" pitchFamily="18" charset="0"/>
              <a:ea typeface="Cambria" panose="02040503050406030204" pitchFamily="18" charset="0"/>
              <a:cs typeface="Arial MT"/>
            </a:endParaRPr>
          </a:p>
        </p:txBody>
      </p:sp>
      <p:sp>
        <p:nvSpPr>
          <p:cNvPr id="16" name="object 16"/>
          <p:cNvSpPr txBox="1"/>
          <p:nvPr/>
        </p:nvSpPr>
        <p:spPr>
          <a:xfrm>
            <a:off x="11458201" y="1794227"/>
            <a:ext cx="4122419" cy="353942"/>
          </a:xfrm>
          <a:prstGeom prst="rect">
            <a:avLst/>
          </a:prstGeom>
        </p:spPr>
        <p:txBody>
          <a:bodyPr vert="horz" wrap="square" lIns="0" tIns="15239" rIns="0" bIns="0" rtlCol="0">
            <a:spAutoFit/>
          </a:bodyPr>
          <a:lstStyle/>
          <a:p>
            <a:pPr marL="12700">
              <a:spcBef>
                <a:spcPts val="120"/>
              </a:spcBef>
            </a:pPr>
            <a:r>
              <a:rPr sz="2200" dirty="0">
                <a:latin typeface="Arial MT"/>
                <a:cs typeface="Arial MT"/>
              </a:rPr>
              <a:t>Human</a:t>
            </a:r>
            <a:r>
              <a:rPr sz="2200" spc="20" dirty="0">
                <a:latin typeface="Arial MT"/>
                <a:cs typeface="Arial MT"/>
              </a:rPr>
              <a:t> </a:t>
            </a:r>
            <a:r>
              <a:rPr sz="2200" dirty="0">
                <a:latin typeface="Arial MT"/>
                <a:cs typeface="Arial MT"/>
              </a:rPr>
              <a:t>Bronchial</a:t>
            </a:r>
            <a:r>
              <a:rPr sz="2200" spc="15" dirty="0">
                <a:latin typeface="Arial MT"/>
                <a:cs typeface="Arial MT"/>
              </a:rPr>
              <a:t> </a:t>
            </a:r>
            <a:r>
              <a:rPr sz="2200" dirty="0">
                <a:latin typeface="Arial MT"/>
                <a:cs typeface="Arial MT"/>
              </a:rPr>
              <a:t>Epithelial</a:t>
            </a:r>
            <a:r>
              <a:rPr sz="2200" spc="35" dirty="0">
                <a:latin typeface="Arial MT"/>
                <a:cs typeface="Arial MT"/>
              </a:rPr>
              <a:t> </a:t>
            </a:r>
            <a:r>
              <a:rPr sz="2200" spc="-9" dirty="0">
                <a:latin typeface="Arial MT"/>
                <a:cs typeface="Arial MT"/>
              </a:rPr>
              <a:t>Cells</a:t>
            </a:r>
            <a:endParaRPr sz="2200" dirty="0">
              <a:latin typeface="Arial MT"/>
              <a:cs typeface="Arial MT"/>
            </a:endParaRPr>
          </a:p>
        </p:txBody>
      </p:sp>
      <p:sp>
        <p:nvSpPr>
          <p:cNvPr id="17" name="object 17"/>
          <p:cNvSpPr txBox="1"/>
          <p:nvPr/>
        </p:nvSpPr>
        <p:spPr>
          <a:xfrm>
            <a:off x="12952259" y="3817407"/>
            <a:ext cx="1136650" cy="365613"/>
          </a:xfrm>
          <a:prstGeom prst="rect">
            <a:avLst/>
          </a:prstGeom>
        </p:spPr>
        <p:txBody>
          <a:bodyPr vert="horz" wrap="square" lIns="0" tIns="11430" rIns="0" bIns="0" rtlCol="0">
            <a:spAutoFit/>
          </a:bodyPr>
          <a:lstStyle/>
          <a:p>
            <a:pPr marL="12700">
              <a:spcBef>
                <a:spcPts val="90"/>
              </a:spcBef>
            </a:pPr>
            <a:r>
              <a:rPr sz="2301" spc="-9" dirty="0">
                <a:latin typeface="Arial MT"/>
                <a:cs typeface="Arial MT"/>
              </a:rPr>
              <a:t>Infection</a:t>
            </a:r>
            <a:endParaRPr sz="2301">
              <a:latin typeface="Arial MT"/>
              <a:cs typeface="Arial MT"/>
            </a:endParaRPr>
          </a:p>
        </p:txBody>
      </p:sp>
      <p:sp>
        <p:nvSpPr>
          <p:cNvPr id="18" name="object 18"/>
          <p:cNvSpPr txBox="1"/>
          <p:nvPr/>
        </p:nvSpPr>
        <p:spPr>
          <a:xfrm>
            <a:off x="10925799" y="6319307"/>
            <a:ext cx="748665" cy="365613"/>
          </a:xfrm>
          <a:prstGeom prst="rect">
            <a:avLst/>
          </a:prstGeom>
        </p:spPr>
        <p:txBody>
          <a:bodyPr vert="horz" wrap="square" lIns="0" tIns="11430" rIns="0" bIns="0" rtlCol="0">
            <a:spAutoFit/>
          </a:bodyPr>
          <a:lstStyle/>
          <a:p>
            <a:pPr marL="12700">
              <a:spcBef>
                <a:spcPts val="90"/>
              </a:spcBef>
            </a:pPr>
            <a:r>
              <a:rPr sz="2301" spc="-20" dirty="0">
                <a:solidFill>
                  <a:srgbClr val="075689"/>
                </a:solidFill>
                <a:latin typeface="Arial MT"/>
                <a:cs typeface="Arial MT"/>
              </a:rPr>
              <a:t>Mock</a:t>
            </a:r>
            <a:endParaRPr sz="2301">
              <a:latin typeface="Arial MT"/>
              <a:cs typeface="Arial MT"/>
            </a:endParaRPr>
          </a:p>
        </p:txBody>
      </p:sp>
      <p:sp>
        <p:nvSpPr>
          <p:cNvPr id="19" name="object 19"/>
          <p:cNvSpPr txBox="1"/>
          <p:nvPr/>
        </p:nvSpPr>
        <p:spPr>
          <a:xfrm>
            <a:off x="12452408" y="6319307"/>
            <a:ext cx="642620" cy="365613"/>
          </a:xfrm>
          <a:prstGeom prst="rect">
            <a:avLst/>
          </a:prstGeom>
        </p:spPr>
        <p:txBody>
          <a:bodyPr vert="horz" wrap="square" lIns="0" tIns="11430" rIns="0" bIns="0" rtlCol="0">
            <a:spAutoFit/>
          </a:bodyPr>
          <a:lstStyle/>
          <a:p>
            <a:pPr marL="12700">
              <a:spcBef>
                <a:spcPts val="90"/>
              </a:spcBef>
            </a:pPr>
            <a:r>
              <a:rPr sz="2301" dirty="0">
                <a:latin typeface="Arial MT"/>
                <a:cs typeface="Arial MT"/>
              </a:rPr>
              <a:t>1</a:t>
            </a:r>
            <a:r>
              <a:rPr sz="2301" spc="-160" dirty="0">
                <a:latin typeface="Arial MT"/>
                <a:cs typeface="Arial MT"/>
              </a:rPr>
              <a:t> </a:t>
            </a:r>
            <a:r>
              <a:rPr sz="2301" spc="-26" dirty="0">
                <a:latin typeface="Arial MT"/>
                <a:cs typeface="Arial MT"/>
              </a:rPr>
              <a:t>dpi</a:t>
            </a:r>
            <a:endParaRPr sz="2301">
              <a:latin typeface="Arial MT"/>
              <a:cs typeface="Arial MT"/>
            </a:endParaRPr>
          </a:p>
        </p:txBody>
      </p:sp>
      <p:sp>
        <p:nvSpPr>
          <p:cNvPr id="20" name="object 20"/>
          <p:cNvSpPr txBox="1"/>
          <p:nvPr/>
        </p:nvSpPr>
        <p:spPr>
          <a:xfrm>
            <a:off x="13948678" y="6319307"/>
            <a:ext cx="656590" cy="365613"/>
          </a:xfrm>
          <a:prstGeom prst="rect">
            <a:avLst/>
          </a:prstGeom>
        </p:spPr>
        <p:txBody>
          <a:bodyPr vert="horz" wrap="square" lIns="0" tIns="11430" rIns="0" bIns="0" rtlCol="0">
            <a:spAutoFit/>
          </a:bodyPr>
          <a:lstStyle/>
          <a:p>
            <a:pPr marL="12700">
              <a:spcBef>
                <a:spcPts val="90"/>
              </a:spcBef>
            </a:pPr>
            <a:r>
              <a:rPr sz="2301" dirty="0">
                <a:latin typeface="Arial MT"/>
                <a:cs typeface="Arial MT"/>
              </a:rPr>
              <a:t>2</a:t>
            </a:r>
            <a:r>
              <a:rPr sz="2301" spc="-145" dirty="0">
                <a:latin typeface="Arial MT"/>
                <a:cs typeface="Arial MT"/>
              </a:rPr>
              <a:t> </a:t>
            </a:r>
            <a:r>
              <a:rPr sz="2301" spc="-26" dirty="0">
                <a:latin typeface="Arial MT"/>
                <a:cs typeface="Arial MT"/>
              </a:rPr>
              <a:t>dpi</a:t>
            </a:r>
            <a:endParaRPr sz="2301">
              <a:latin typeface="Arial MT"/>
              <a:cs typeface="Arial MT"/>
            </a:endParaRPr>
          </a:p>
        </p:txBody>
      </p:sp>
      <p:sp>
        <p:nvSpPr>
          <p:cNvPr id="21" name="object 21"/>
          <p:cNvSpPr txBox="1"/>
          <p:nvPr/>
        </p:nvSpPr>
        <p:spPr>
          <a:xfrm>
            <a:off x="15418268" y="6319307"/>
            <a:ext cx="661671" cy="365613"/>
          </a:xfrm>
          <a:prstGeom prst="rect">
            <a:avLst/>
          </a:prstGeom>
        </p:spPr>
        <p:txBody>
          <a:bodyPr vert="horz" wrap="square" lIns="0" tIns="11430" rIns="0" bIns="0" rtlCol="0">
            <a:spAutoFit/>
          </a:bodyPr>
          <a:lstStyle/>
          <a:p>
            <a:pPr marL="12700">
              <a:spcBef>
                <a:spcPts val="90"/>
              </a:spcBef>
            </a:pPr>
            <a:r>
              <a:rPr sz="2301" dirty="0">
                <a:latin typeface="Arial MT"/>
                <a:cs typeface="Arial MT"/>
              </a:rPr>
              <a:t>3</a:t>
            </a:r>
            <a:r>
              <a:rPr sz="2301" spc="-15" dirty="0">
                <a:latin typeface="Arial MT"/>
                <a:cs typeface="Arial MT"/>
              </a:rPr>
              <a:t> </a:t>
            </a:r>
            <a:r>
              <a:rPr sz="2301" spc="-26" dirty="0">
                <a:latin typeface="Arial MT"/>
                <a:cs typeface="Arial MT"/>
              </a:rPr>
              <a:t>dpi</a:t>
            </a:r>
            <a:endParaRPr sz="2301">
              <a:latin typeface="Arial MT"/>
              <a:cs typeface="Arial MT"/>
            </a:endParaRPr>
          </a:p>
        </p:txBody>
      </p:sp>
      <p:sp>
        <p:nvSpPr>
          <p:cNvPr id="22" name="object 22"/>
          <p:cNvSpPr txBox="1"/>
          <p:nvPr/>
        </p:nvSpPr>
        <p:spPr>
          <a:xfrm>
            <a:off x="10840250" y="9113657"/>
            <a:ext cx="6497320" cy="365613"/>
          </a:xfrm>
          <a:prstGeom prst="rect">
            <a:avLst/>
          </a:prstGeom>
        </p:spPr>
        <p:txBody>
          <a:bodyPr vert="horz" wrap="square" lIns="0" tIns="11430" rIns="0" bIns="0" rtlCol="0">
            <a:spAutoFit/>
          </a:bodyPr>
          <a:lstStyle/>
          <a:p>
            <a:pPr marL="12700">
              <a:spcBef>
                <a:spcPts val="90"/>
              </a:spcBef>
            </a:pPr>
            <a:r>
              <a:rPr sz="2301" spc="-55" dirty="0">
                <a:latin typeface="Arial MT"/>
                <a:cs typeface="Arial MT"/>
              </a:rPr>
              <a:t>Single-</a:t>
            </a:r>
            <a:r>
              <a:rPr sz="2301" dirty="0">
                <a:latin typeface="Arial MT"/>
                <a:cs typeface="Arial MT"/>
              </a:rPr>
              <a:t>Cell </a:t>
            </a:r>
            <a:r>
              <a:rPr sz="2301" spc="-160" dirty="0">
                <a:latin typeface="Arial MT"/>
                <a:cs typeface="Arial MT"/>
              </a:rPr>
              <a:t>RNA</a:t>
            </a:r>
            <a:r>
              <a:rPr sz="2301" dirty="0">
                <a:latin typeface="Arial MT"/>
                <a:cs typeface="Arial MT"/>
              </a:rPr>
              <a:t> </a:t>
            </a:r>
            <a:r>
              <a:rPr sz="2301" spc="-30" dirty="0">
                <a:latin typeface="Arial MT"/>
                <a:cs typeface="Arial MT"/>
              </a:rPr>
              <a:t>Sequencing</a:t>
            </a:r>
            <a:r>
              <a:rPr sz="2301" spc="65" dirty="0">
                <a:latin typeface="Arial MT"/>
                <a:cs typeface="Arial MT"/>
              </a:rPr>
              <a:t> </a:t>
            </a:r>
            <a:r>
              <a:rPr sz="2301" spc="-75" dirty="0">
                <a:latin typeface="Arial MT"/>
                <a:cs typeface="Arial MT"/>
              </a:rPr>
              <a:t>(scRNA-</a:t>
            </a:r>
            <a:r>
              <a:rPr sz="2301" spc="-20" dirty="0">
                <a:latin typeface="Arial MT"/>
                <a:cs typeface="Arial MT"/>
              </a:rPr>
              <a:t>seq)</a:t>
            </a:r>
            <a:endParaRPr sz="2301" dirty="0">
              <a:latin typeface="Arial MT"/>
              <a:cs typeface="Arial MT"/>
            </a:endParaRPr>
          </a:p>
        </p:txBody>
      </p:sp>
      <p:sp>
        <p:nvSpPr>
          <p:cNvPr id="24" name="TextBox 23">
            <a:extLst>
              <a:ext uri="{FF2B5EF4-FFF2-40B4-BE49-F238E27FC236}">
                <a16:creationId xmlns:a16="http://schemas.microsoft.com/office/drawing/2014/main" id="{5C3DEAA9-91E1-1C7D-8B68-2C7D74F8EC6A}"/>
              </a:ext>
            </a:extLst>
          </p:cNvPr>
          <p:cNvSpPr txBox="1"/>
          <p:nvPr/>
        </p:nvSpPr>
        <p:spPr>
          <a:xfrm>
            <a:off x="-23897" y="9138750"/>
            <a:ext cx="10584679" cy="523220"/>
          </a:xfrm>
          <a:prstGeom prst="rect">
            <a:avLst/>
          </a:prstGeom>
          <a:noFill/>
        </p:spPr>
        <p:txBody>
          <a:bodyPr wrap="square">
            <a:spAutoFit/>
          </a:bodyPr>
          <a:lstStyle/>
          <a:p>
            <a:r>
              <a:rPr lang="en-US" sz="1400" i="1" dirty="0">
                <a:solidFill>
                  <a:schemeClr val="tx1">
                    <a:lumMod val="65000"/>
                    <a:lumOff val="35000"/>
                  </a:schemeClr>
                </a:solidFill>
                <a:latin typeface="Cambria" panose="02040503050406030204" pitchFamily="18" charset="0"/>
                <a:ea typeface="Cambria" panose="02040503050406030204" pitchFamily="18" charset="0"/>
              </a:rPr>
              <a:t>Reference: Ravindra et al., “Single-cell longitudinal analysis of SARS-CoV-2 infection in human bronchial epithelial cells,” PLOS Biology (2021). https://journals.plos.org/plosbiology/article?id=10.1371/journal.pbio.3001143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79400" y="114523"/>
            <a:ext cx="14478001" cy="588110"/>
          </a:xfrm>
          <a:prstGeom prst="rect">
            <a:avLst/>
          </a:prstGeom>
        </p:spPr>
        <p:txBody>
          <a:bodyPr vert="horz" wrap="square" lIns="0" tIns="83185" rIns="0" bIns="0" rtlCol="0">
            <a:spAutoFit/>
          </a:bodyPr>
          <a:lstStyle/>
          <a:p>
            <a:pPr marL="17781" marR="5081" indent="-5715">
              <a:lnSpc>
                <a:spcPct val="90500"/>
              </a:lnSpc>
              <a:spcBef>
                <a:spcPts val="654"/>
              </a:spcBef>
            </a:pPr>
            <a:r>
              <a:rPr sz="3600" b="1" spc="-305" dirty="0">
                <a:solidFill>
                  <a:srgbClr val="262626"/>
                </a:solidFill>
                <a:latin typeface="Cambria" panose="02040503050406030204" pitchFamily="18" charset="0"/>
                <a:ea typeface="Cambria" panose="02040503050406030204" pitchFamily="18" charset="0"/>
              </a:rPr>
              <a:t>The</a:t>
            </a:r>
            <a:r>
              <a:rPr sz="3600" b="1" spc="-380" dirty="0">
                <a:solidFill>
                  <a:srgbClr val="262626"/>
                </a:solidFill>
                <a:latin typeface="Cambria" panose="02040503050406030204" pitchFamily="18" charset="0"/>
                <a:ea typeface="Cambria" panose="02040503050406030204" pitchFamily="18" charset="0"/>
              </a:rPr>
              <a:t> </a:t>
            </a:r>
            <a:r>
              <a:rPr lang="fr-FR" sz="3600" b="1" spc="-380" dirty="0">
                <a:solidFill>
                  <a:srgbClr val="262626"/>
                </a:solidFill>
                <a:latin typeface="Cambria" panose="02040503050406030204" pitchFamily="18" charset="0"/>
                <a:ea typeface="Cambria" panose="02040503050406030204" pitchFamily="18" charset="0"/>
              </a:rPr>
              <a:t> </a:t>
            </a:r>
            <a:r>
              <a:rPr sz="3600" b="1" spc="-145" dirty="0">
                <a:latin typeface="Cambria" panose="02040503050406030204" pitchFamily="18" charset="0"/>
                <a:ea typeface="Cambria" panose="02040503050406030204" pitchFamily="18" charset="0"/>
              </a:rPr>
              <a:t>airway</a:t>
            </a:r>
            <a:r>
              <a:rPr sz="3600" b="1" spc="-200" dirty="0">
                <a:latin typeface="Cambria" panose="02040503050406030204" pitchFamily="18" charset="0"/>
                <a:ea typeface="Cambria" panose="02040503050406030204" pitchFamily="18" charset="0"/>
              </a:rPr>
              <a:t> </a:t>
            </a:r>
            <a:r>
              <a:rPr sz="3600" b="1" spc="-9" dirty="0">
                <a:latin typeface="Cambria" panose="02040503050406030204" pitchFamily="18" charset="0"/>
                <a:ea typeface="Cambria" panose="02040503050406030204" pitchFamily="18" charset="0"/>
              </a:rPr>
              <a:t>epithelium </a:t>
            </a:r>
            <a:r>
              <a:rPr sz="3600" b="1" spc="-30" dirty="0">
                <a:solidFill>
                  <a:srgbClr val="262626"/>
                </a:solidFill>
                <a:latin typeface="Cambria" panose="02040503050406030204" pitchFamily="18" charset="0"/>
                <a:ea typeface="Cambria" panose="02040503050406030204" pitchFamily="18" charset="0"/>
              </a:rPr>
              <a:t>at</a:t>
            </a:r>
            <a:r>
              <a:rPr sz="3600" b="1" spc="-345" dirty="0">
                <a:solidFill>
                  <a:srgbClr val="262626"/>
                </a:solidFill>
                <a:latin typeface="Cambria" panose="02040503050406030204" pitchFamily="18" charset="0"/>
                <a:ea typeface="Cambria" panose="02040503050406030204" pitchFamily="18" charset="0"/>
              </a:rPr>
              <a:t> </a:t>
            </a:r>
            <a:r>
              <a:rPr sz="3600" b="1" spc="-228" dirty="0">
                <a:latin typeface="Cambria" panose="02040503050406030204" pitchFamily="18" charset="0"/>
                <a:ea typeface="Cambria" panose="02040503050406030204" pitchFamily="18" charset="0"/>
              </a:rPr>
              <a:t>baseline</a:t>
            </a:r>
            <a:r>
              <a:rPr sz="3600" b="1" spc="-241" dirty="0">
                <a:latin typeface="Cambria" panose="02040503050406030204" pitchFamily="18" charset="0"/>
                <a:ea typeface="Cambria" panose="02040503050406030204" pitchFamily="18" charset="0"/>
              </a:rPr>
              <a:t> </a:t>
            </a:r>
            <a:r>
              <a:rPr sz="3600" b="1" spc="-90" dirty="0">
                <a:solidFill>
                  <a:srgbClr val="2B2B2B"/>
                </a:solidFill>
                <a:latin typeface="Cambria" panose="02040503050406030204" pitchFamily="18" charset="0"/>
                <a:ea typeface="Cambria" panose="02040503050406030204" pitchFamily="18" charset="0"/>
              </a:rPr>
              <a:t>is</a:t>
            </a:r>
            <a:r>
              <a:rPr sz="3600" b="1" spc="-456" dirty="0">
                <a:solidFill>
                  <a:srgbClr val="2B2B2B"/>
                </a:solidFill>
                <a:latin typeface="Cambria" panose="02040503050406030204" pitchFamily="18" charset="0"/>
                <a:ea typeface="Cambria" panose="02040503050406030204" pitchFamily="18" charset="0"/>
              </a:rPr>
              <a:t> </a:t>
            </a:r>
            <a:r>
              <a:rPr lang="fr-FR" sz="3600" b="1" spc="-456" dirty="0">
                <a:solidFill>
                  <a:srgbClr val="2B2B2B"/>
                </a:solidFill>
                <a:latin typeface="Cambria" panose="02040503050406030204" pitchFamily="18" charset="0"/>
                <a:ea typeface="Cambria" panose="02040503050406030204" pitchFamily="18" charset="0"/>
              </a:rPr>
              <a:t> </a:t>
            </a:r>
            <a:r>
              <a:rPr sz="3600" b="1" spc="-415" dirty="0">
                <a:solidFill>
                  <a:srgbClr val="2A2A2A"/>
                </a:solidFill>
                <a:latin typeface="Cambria" panose="02040503050406030204" pitchFamily="18" charset="0"/>
                <a:ea typeface="Cambria" panose="02040503050406030204" pitchFamily="18" charset="0"/>
              </a:rPr>
              <a:t>a</a:t>
            </a:r>
            <a:r>
              <a:rPr lang="fr-FR" sz="3600" b="1" spc="-415" dirty="0">
                <a:solidFill>
                  <a:srgbClr val="2A2A2A"/>
                </a:solidFill>
                <a:latin typeface="Cambria" panose="02040503050406030204" pitchFamily="18" charset="0"/>
                <a:ea typeface="Cambria" panose="02040503050406030204" pitchFamily="18" charset="0"/>
              </a:rPr>
              <a:t> </a:t>
            </a:r>
            <a:r>
              <a:rPr sz="3600" b="1" spc="-456" dirty="0">
                <a:solidFill>
                  <a:srgbClr val="2A2A2A"/>
                </a:solidFill>
                <a:latin typeface="Cambria" panose="02040503050406030204" pitchFamily="18" charset="0"/>
                <a:ea typeface="Cambria" panose="02040503050406030204" pitchFamily="18" charset="0"/>
              </a:rPr>
              <a:t> </a:t>
            </a:r>
            <a:r>
              <a:rPr sz="3600" b="1" spc="-145" dirty="0">
                <a:solidFill>
                  <a:srgbClr val="242424"/>
                </a:solidFill>
                <a:latin typeface="Cambria" panose="02040503050406030204" pitchFamily="18" charset="0"/>
                <a:ea typeface="Cambria" panose="02040503050406030204" pitchFamily="18" charset="0"/>
              </a:rPr>
              <a:t>complex</a:t>
            </a:r>
            <a:r>
              <a:rPr lang="fr-FR" sz="3600" b="1" spc="-145" dirty="0">
                <a:solidFill>
                  <a:srgbClr val="242424"/>
                </a:solidFill>
                <a:latin typeface="Cambria" panose="02040503050406030204" pitchFamily="18" charset="0"/>
                <a:ea typeface="Cambria" panose="02040503050406030204" pitchFamily="18" charset="0"/>
              </a:rPr>
              <a:t> and </a:t>
            </a:r>
            <a:r>
              <a:rPr sz="3600" b="1" spc="-160" dirty="0">
                <a:latin typeface="Cambria" panose="02040503050406030204" pitchFamily="18" charset="0"/>
                <a:ea typeface="Cambria" panose="02040503050406030204" pitchFamily="18" charset="0"/>
              </a:rPr>
              <a:t>structured</a:t>
            </a:r>
            <a:r>
              <a:rPr sz="3600" b="1" spc="-140" dirty="0">
                <a:latin typeface="Cambria" panose="02040503050406030204" pitchFamily="18" charset="0"/>
                <a:ea typeface="Cambria" panose="02040503050406030204" pitchFamily="18" charset="0"/>
              </a:rPr>
              <a:t> </a:t>
            </a:r>
            <a:r>
              <a:rPr sz="3600" b="1" spc="-105" dirty="0">
                <a:latin typeface="Cambria" panose="02040503050406030204" pitchFamily="18" charset="0"/>
                <a:ea typeface="Cambria" panose="02040503050406030204" pitchFamily="18" charset="0"/>
              </a:rPr>
              <a:t>community.</a:t>
            </a:r>
            <a:endParaRPr sz="2400" dirty="0">
              <a:latin typeface="Cambria" panose="02040503050406030204" pitchFamily="18" charset="0"/>
              <a:ea typeface="Cambria" panose="02040503050406030204" pitchFamily="18" charset="0"/>
            </a:endParaRPr>
          </a:p>
        </p:txBody>
      </p:sp>
      <p:pic>
        <p:nvPicPr>
          <p:cNvPr id="13" name="Picture 12">
            <a:extLst>
              <a:ext uri="{FF2B5EF4-FFF2-40B4-BE49-F238E27FC236}">
                <a16:creationId xmlns:a16="http://schemas.microsoft.com/office/drawing/2014/main" id="{AD4AB5E6-D983-A599-BC4C-7E7BC66D785D}"/>
              </a:ext>
            </a:extLst>
          </p:cNvPr>
          <p:cNvPicPr>
            <a:picLocks noChangeAspect="1"/>
          </p:cNvPicPr>
          <p:nvPr/>
        </p:nvPicPr>
        <p:blipFill>
          <a:blip r:embed="rId2"/>
          <a:srcRect l="1363" t="1539" r="1543" b="2293"/>
          <a:stretch>
            <a:fillRect/>
          </a:stretch>
        </p:blipFill>
        <p:spPr>
          <a:xfrm>
            <a:off x="1291416" y="1600202"/>
            <a:ext cx="6983412" cy="3667125"/>
          </a:xfrm>
          <a:prstGeom prst="rect">
            <a:avLst/>
          </a:prstGeom>
        </p:spPr>
      </p:pic>
      <p:pic>
        <p:nvPicPr>
          <p:cNvPr id="14" name="Picture 13">
            <a:extLst>
              <a:ext uri="{FF2B5EF4-FFF2-40B4-BE49-F238E27FC236}">
                <a16:creationId xmlns:a16="http://schemas.microsoft.com/office/drawing/2014/main" id="{363B0B6A-EB4A-768A-B9B2-3A50EAD946B0}"/>
              </a:ext>
            </a:extLst>
          </p:cNvPr>
          <p:cNvPicPr>
            <a:picLocks noChangeAspect="1"/>
          </p:cNvPicPr>
          <p:nvPr/>
        </p:nvPicPr>
        <p:blipFill>
          <a:blip r:embed="rId3"/>
          <a:stretch>
            <a:fillRect/>
          </a:stretch>
        </p:blipFill>
        <p:spPr>
          <a:xfrm>
            <a:off x="9477983" y="1454061"/>
            <a:ext cx="7192503" cy="3813266"/>
          </a:xfrm>
          <a:prstGeom prst="rect">
            <a:avLst/>
          </a:prstGeom>
        </p:spPr>
      </p:pic>
      <p:pic>
        <p:nvPicPr>
          <p:cNvPr id="15" name="Picture 14">
            <a:extLst>
              <a:ext uri="{FF2B5EF4-FFF2-40B4-BE49-F238E27FC236}">
                <a16:creationId xmlns:a16="http://schemas.microsoft.com/office/drawing/2014/main" id="{1B58124B-FC7A-3EB0-94E7-C211D6466DB6}"/>
              </a:ext>
            </a:extLst>
          </p:cNvPr>
          <p:cNvPicPr>
            <a:picLocks noChangeAspect="1"/>
          </p:cNvPicPr>
          <p:nvPr/>
        </p:nvPicPr>
        <p:blipFill>
          <a:blip r:embed="rId4"/>
          <a:stretch>
            <a:fillRect/>
          </a:stretch>
        </p:blipFill>
        <p:spPr>
          <a:xfrm>
            <a:off x="1286004" y="5653031"/>
            <a:ext cx="7367166" cy="3986048"/>
          </a:xfrm>
          <a:prstGeom prst="rect">
            <a:avLst/>
          </a:prstGeom>
        </p:spPr>
      </p:pic>
      <p:pic>
        <p:nvPicPr>
          <p:cNvPr id="16" name="Picture 15">
            <a:extLst>
              <a:ext uri="{FF2B5EF4-FFF2-40B4-BE49-F238E27FC236}">
                <a16:creationId xmlns:a16="http://schemas.microsoft.com/office/drawing/2014/main" id="{A724AFE5-4B13-AE67-9ACF-E1899348BB20}"/>
              </a:ext>
            </a:extLst>
          </p:cNvPr>
          <p:cNvPicPr>
            <a:picLocks noChangeAspect="1"/>
          </p:cNvPicPr>
          <p:nvPr/>
        </p:nvPicPr>
        <p:blipFill>
          <a:blip r:embed="rId5"/>
          <a:stretch>
            <a:fillRect/>
          </a:stretch>
        </p:blipFill>
        <p:spPr>
          <a:xfrm>
            <a:off x="9477983" y="5653030"/>
            <a:ext cx="7192503" cy="3891544"/>
          </a:xfrm>
          <a:prstGeom prst="rect">
            <a:avLst/>
          </a:prstGeom>
        </p:spPr>
      </p:pic>
      <p:sp>
        <p:nvSpPr>
          <p:cNvPr id="18" name="TextBox 17">
            <a:extLst>
              <a:ext uri="{FF2B5EF4-FFF2-40B4-BE49-F238E27FC236}">
                <a16:creationId xmlns:a16="http://schemas.microsoft.com/office/drawing/2014/main" id="{C0278C26-A82C-3286-6C52-103C8CCFD2FB}"/>
              </a:ext>
            </a:extLst>
          </p:cNvPr>
          <p:cNvSpPr txBox="1"/>
          <p:nvPr/>
        </p:nvSpPr>
        <p:spPr>
          <a:xfrm>
            <a:off x="307717" y="666504"/>
            <a:ext cx="10411083" cy="461665"/>
          </a:xfrm>
          <a:prstGeom prst="rect">
            <a:avLst/>
          </a:prstGeom>
          <a:noFill/>
        </p:spPr>
        <p:txBody>
          <a:bodyPr wrap="square">
            <a:spAutoFit/>
          </a:bodyPr>
          <a:lstStyle/>
          <a:p>
            <a:pPr marL="342919" indent="-342919">
              <a:buFont typeface="Arial" panose="020B0604020202020204" pitchFamily="34" charset="0"/>
              <a:buChar char="•"/>
            </a:pPr>
            <a:r>
              <a:rPr lang="fr-FR" sz="2400" spc="-105" dirty="0">
                <a:solidFill>
                  <a:srgbClr val="232323"/>
                </a:solidFill>
                <a:latin typeface="Cambria" panose="02040503050406030204" pitchFamily="18" charset="0"/>
                <a:ea typeface="Cambria" panose="02040503050406030204" pitchFamily="18" charset="0"/>
              </a:rPr>
              <a:t>Below the images show the cell type composition at different stages of infection. </a:t>
            </a:r>
            <a:endParaRPr lang="en-US" dirty="0"/>
          </a:p>
        </p:txBody>
      </p:sp>
      <p:pic>
        <p:nvPicPr>
          <p:cNvPr id="27" name="Graphic 26" descr="Badge 1 outline">
            <a:extLst>
              <a:ext uri="{FF2B5EF4-FFF2-40B4-BE49-F238E27FC236}">
                <a16:creationId xmlns:a16="http://schemas.microsoft.com/office/drawing/2014/main" id="{7EFC467A-1ACE-B6DB-72BF-5FEA0EF1DAE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79818" y="1513872"/>
            <a:ext cx="914400" cy="914400"/>
          </a:xfrm>
          <a:prstGeom prst="rect">
            <a:avLst/>
          </a:prstGeom>
        </p:spPr>
      </p:pic>
      <p:pic>
        <p:nvPicPr>
          <p:cNvPr id="29" name="Graphic 28" descr="Badge outline">
            <a:extLst>
              <a:ext uri="{FF2B5EF4-FFF2-40B4-BE49-F238E27FC236}">
                <a16:creationId xmlns:a16="http://schemas.microsoft.com/office/drawing/2014/main" id="{3D43995A-155B-1942-B1DD-B402ABCECF8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2988" y="5653029"/>
            <a:ext cx="914400" cy="914400"/>
          </a:xfrm>
          <a:prstGeom prst="rect">
            <a:avLst/>
          </a:prstGeom>
        </p:spPr>
      </p:pic>
      <p:pic>
        <p:nvPicPr>
          <p:cNvPr id="33" name="Graphic 32" descr="Badge 3 outline">
            <a:extLst>
              <a:ext uri="{FF2B5EF4-FFF2-40B4-BE49-F238E27FC236}">
                <a16:creationId xmlns:a16="http://schemas.microsoft.com/office/drawing/2014/main" id="{84CD811F-FBA7-EF6A-9698-7BE2AC9DDA7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822033" y="5653029"/>
            <a:ext cx="914400" cy="914400"/>
          </a:xfrm>
          <a:prstGeom prst="rect">
            <a:avLst/>
          </a:prstGeom>
        </p:spPr>
      </p:pic>
      <p:pic>
        <p:nvPicPr>
          <p:cNvPr id="35" name="Graphic 34" descr="Chevron arrows outline">
            <a:extLst>
              <a:ext uri="{FF2B5EF4-FFF2-40B4-BE49-F238E27FC236}">
                <a16:creationId xmlns:a16="http://schemas.microsoft.com/office/drawing/2014/main" id="{B1008B18-6DC0-193D-7445-9DA1D1403B4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2988" y="1518868"/>
            <a:ext cx="914400" cy="91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A23C71E-34D6-4B1F-15B3-EA8FEE546DA5}"/>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4835F6F0-5B40-B3B1-4A37-D3453C5D0DAC}"/>
              </a:ext>
            </a:extLst>
          </p:cNvPr>
          <p:cNvSpPr txBox="1"/>
          <p:nvPr/>
        </p:nvSpPr>
        <p:spPr>
          <a:xfrm>
            <a:off x="203201" y="89845"/>
            <a:ext cx="17068799" cy="685187"/>
          </a:xfrm>
          <a:prstGeom prst="rect">
            <a:avLst/>
          </a:prstGeom>
        </p:spPr>
        <p:txBody>
          <a:bodyPr vert="horz" wrap="square" lIns="0" tIns="184784" rIns="0" bIns="0" rtlCol="0">
            <a:spAutoFit/>
          </a:bodyPr>
          <a:lstStyle/>
          <a:p>
            <a:pPr marL="17146" marR="5081" indent="-5081" algn="ctr">
              <a:lnSpc>
                <a:spcPct val="80900"/>
              </a:lnSpc>
              <a:spcBef>
                <a:spcPts val="1455"/>
              </a:spcBef>
            </a:pPr>
            <a:r>
              <a:rPr lang="fr-FR" sz="4000" spc="-310" dirty="0">
                <a:solidFill>
                  <a:srgbClr val="212121"/>
                </a:solidFill>
                <a:latin typeface="Cambria" panose="02040503050406030204" pitchFamily="18" charset="0"/>
                <a:ea typeface="Cambria" panose="02040503050406030204" pitchFamily="18" charset="0"/>
                <a:cs typeface="Arial MT"/>
              </a:rPr>
              <a:t>ENO2 vs </a:t>
            </a:r>
            <a:r>
              <a:rPr lang="en-US" sz="4000" dirty="0">
                <a:latin typeface="Cambria" panose="02040503050406030204" pitchFamily="18" charset="0"/>
                <a:ea typeface="Cambria" panose="02040503050406030204" pitchFamily="18" charset="0"/>
              </a:rPr>
              <a:t>ACE2</a:t>
            </a:r>
            <a:endParaRPr sz="4000" dirty="0">
              <a:latin typeface="Cambria" panose="02040503050406030204" pitchFamily="18" charset="0"/>
              <a:ea typeface="Cambria" panose="02040503050406030204" pitchFamily="18" charset="0"/>
              <a:cs typeface="Arial MT"/>
            </a:endParaRPr>
          </a:p>
        </p:txBody>
      </p:sp>
      <p:pic>
        <p:nvPicPr>
          <p:cNvPr id="15" name="Picture 14">
            <a:extLst>
              <a:ext uri="{FF2B5EF4-FFF2-40B4-BE49-F238E27FC236}">
                <a16:creationId xmlns:a16="http://schemas.microsoft.com/office/drawing/2014/main" id="{92317ACA-9219-2FC7-1364-71A1918826A8}"/>
              </a:ext>
            </a:extLst>
          </p:cNvPr>
          <p:cNvPicPr>
            <a:picLocks noChangeAspect="1"/>
          </p:cNvPicPr>
          <p:nvPr/>
        </p:nvPicPr>
        <p:blipFill>
          <a:blip r:embed="rId2"/>
          <a:stretch>
            <a:fillRect/>
          </a:stretch>
        </p:blipFill>
        <p:spPr>
          <a:xfrm>
            <a:off x="1585498" y="1161598"/>
            <a:ext cx="14304207" cy="3650244"/>
          </a:xfrm>
          <a:prstGeom prst="rect">
            <a:avLst/>
          </a:prstGeom>
        </p:spPr>
      </p:pic>
      <p:pic>
        <p:nvPicPr>
          <p:cNvPr id="2" name="Picture 1">
            <a:extLst>
              <a:ext uri="{FF2B5EF4-FFF2-40B4-BE49-F238E27FC236}">
                <a16:creationId xmlns:a16="http://schemas.microsoft.com/office/drawing/2014/main" id="{E0358B8F-61F2-948D-F74E-3DA4B6296D8F}"/>
              </a:ext>
            </a:extLst>
          </p:cNvPr>
          <p:cNvPicPr>
            <a:picLocks noChangeAspect="1"/>
          </p:cNvPicPr>
          <p:nvPr/>
        </p:nvPicPr>
        <p:blipFill>
          <a:blip r:embed="rId3"/>
          <a:stretch>
            <a:fillRect/>
          </a:stretch>
        </p:blipFill>
        <p:spPr>
          <a:xfrm>
            <a:off x="1585498" y="4858166"/>
            <a:ext cx="14924947" cy="3808648"/>
          </a:xfrm>
          <a:prstGeom prst="rect">
            <a:avLst/>
          </a:prstGeom>
        </p:spPr>
      </p:pic>
      <p:sp>
        <p:nvSpPr>
          <p:cNvPr id="4" name="TextBox 3">
            <a:extLst>
              <a:ext uri="{FF2B5EF4-FFF2-40B4-BE49-F238E27FC236}">
                <a16:creationId xmlns:a16="http://schemas.microsoft.com/office/drawing/2014/main" id="{B600BDB6-D6C8-2EF6-6AC8-AF3E703352B9}"/>
              </a:ext>
            </a:extLst>
          </p:cNvPr>
          <p:cNvSpPr txBox="1"/>
          <p:nvPr/>
        </p:nvSpPr>
        <p:spPr>
          <a:xfrm>
            <a:off x="660401" y="8713137"/>
            <a:ext cx="16498106" cy="830997"/>
          </a:xfrm>
          <a:prstGeom prst="rect">
            <a:avLst/>
          </a:prstGeom>
          <a:noFill/>
        </p:spPr>
        <p:txBody>
          <a:bodyPr wrap="square">
            <a:spAutoFit/>
          </a:bodyPr>
          <a:lstStyle/>
          <a:p>
            <a:pPr marL="342919" indent="-342919" algn="just">
              <a:buFont typeface="Wingdings" panose="05000000000000000000" pitchFamily="2" charset="2"/>
              <a:buChar char="q"/>
            </a:pPr>
            <a:r>
              <a:rPr lang="en-US" sz="2400" dirty="0">
                <a:latin typeface="Cambria" panose="02040503050406030204" pitchFamily="18" charset="0"/>
                <a:ea typeface="Cambria" panose="02040503050406030204" pitchFamily="18" charset="0"/>
              </a:rPr>
              <a:t>ACE2 serves as a spatial marker of viral entry, while ENO2 captures the systemic metabolic stress accompanying viral replication, together illustrating the cellular choreography of COVID-19 infection.</a:t>
            </a:r>
            <a:endParaRPr lang="en-US" sz="2400" dirty="0">
              <a:solidFill>
                <a:schemeClr val="accent6">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80508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47B295F-CF86-4EA9-8CB3-B65A1CCB52E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31EB881-2D24-B495-CC81-9B3D109A4746}"/>
              </a:ext>
            </a:extLst>
          </p:cNvPr>
          <p:cNvSpPr txBox="1"/>
          <p:nvPr/>
        </p:nvSpPr>
        <p:spPr>
          <a:xfrm>
            <a:off x="0" y="2362200"/>
            <a:ext cx="7965562" cy="5563767"/>
          </a:xfrm>
          <a:prstGeom prst="rect">
            <a:avLst/>
          </a:prstGeom>
          <a:noFill/>
        </p:spPr>
        <p:txBody>
          <a:bodyPr wrap="square">
            <a:spAutoFit/>
          </a:bodyPr>
          <a:lstStyle/>
          <a:p>
            <a:pPr marL="342919" indent="-342919" algn="just">
              <a:lnSpc>
                <a:spcPct val="150000"/>
              </a:lnSpc>
              <a:buFont typeface="Wingdings" panose="05000000000000000000" pitchFamily="2" charset="2"/>
              <a:buChar char="q"/>
            </a:pPr>
            <a:r>
              <a:rPr lang="en-US" sz="2400" b="1" i="1" dirty="0">
                <a:latin typeface="Cambria" panose="02040503050406030204" pitchFamily="18" charset="0"/>
              </a:rPr>
              <a:t>Mock (0dpi)</a:t>
            </a:r>
            <a:endParaRPr lang="en-US" sz="2400" b="1" dirty="0">
              <a:latin typeface="Cambria" panose="02040503050406030204" pitchFamily="18" charset="0"/>
            </a:endParaRPr>
          </a:p>
          <a:p>
            <a:pPr marL="347492" indent="-347492" algn="just">
              <a:lnSpc>
                <a:spcPct val="150000"/>
              </a:lnSpc>
              <a:buFont typeface="Arial" panose="020B0604020202020204" pitchFamily="34" charset="0"/>
              <a:buChar char="•"/>
            </a:pPr>
            <a:r>
              <a:rPr lang="en-US" sz="2400" dirty="0">
                <a:latin typeface="Cambria" panose="02040503050406030204" pitchFamily="18" charset="0"/>
              </a:rPr>
              <a:t>The pseudotime trajectory of uninfected cells shows the normal differentiation of airway epithelia.</a:t>
            </a:r>
          </a:p>
          <a:p>
            <a:pPr marL="347492" indent="-347492" algn="just">
              <a:lnSpc>
                <a:spcPct val="150000"/>
              </a:lnSpc>
              <a:buFont typeface="Arial" panose="020B0604020202020204" pitchFamily="34" charset="0"/>
              <a:buChar char="•"/>
            </a:pPr>
            <a:r>
              <a:rPr lang="en-US" sz="2400" dirty="0">
                <a:latin typeface="Cambria" panose="02040503050406030204" pitchFamily="18" charset="0"/>
              </a:rPr>
              <a:t>Early pseudotime includes airway epithelial cells, while alveolar, ciliated, and ionocyte cells appear later, reflecting maturation.</a:t>
            </a:r>
          </a:p>
          <a:p>
            <a:pPr marL="347492" indent="-347492" algn="just">
              <a:lnSpc>
                <a:spcPct val="150000"/>
              </a:lnSpc>
              <a:buFont typeface="Arial" panose="020B0604020202020204" pitchFamily="34" charset="0"/>
              <a:buChar char="•"/>
            </a:pPr>
            <a:r>
              <a:rPr lang="en-US" sz="2400" dirty="0">
                <a:latin typeface="Cambria" panose="02040503050406030204" pitchFamily="18" charset="0"/>
              </a:rPr>
              <a:t>Smooth muscle and mesothelial clusters remain distinct, matching their non-epithelial nature.</a:t>
            </a:r>
          </a:p>
          <a:p>
            <a:pPr marL="347492" indent="-347492" algn="just">
              <a:lnSpc>
                <a:spcPct val="150000"/>
              </a:lnSpc>
              <a:buFont typeface="Arial" panose="020B0604020202020204" pitchFamily="34" charset="0"/>
              <a:buChar char="•"/>
            </a:pPr>
            <a:r>
              <a:rPr lang="en-US" sz="2400" dirty="0">
                <a:latin typeface="Cambria" panose="02040503050406030204" pitchFamily="18" charset="0"/>
              </a:rPr>
              <a:t>This healthy baseline provides a reference for assessing changes caused by infection.</a:t>
            </a:r>
            <a:endParaRPr lang="en-US" sz="2400" dirty="0">
              <a:latin typeface="Cambria" panose="02040503050406030204" pitchFamily="18" charset="0"/>
              <a:ea typeface="Cambria" panose="02040503050406030204" pitchFamily="18" charset="0"/>
            </a:endParaRPr>
          </a:p>
        </p:txBody>
      </p:sp>
      <p:pic>
        <p:nvPicPr>
          <p:cNvPr id="2" name="Picture 1">
            <a:extLst>
              <a:ext uri="{FF2B5EF4-FFF2-40B4-BE49-F238E27FC236}">
                <a16:creationId xmlns:a16="http://schemas.microsoft.com/office/drawing/2014/main" id="{8B92B56F-F575-63E6-754F-27AEFFF02195}"/>
              </a:ext>
            </a:extLst>
          </p:cNvPr>
          <p:cNvPicPr>
            <a:picLocks noChangeAspect="1"/>
          </p:cNvPicPr>
          <p:nvPr/>
        </p:nvPicPr>
        <p:blipFill>
          <a:blip r:embed="rId2"/>
          <a:srcRect r="62"/>
          <a:stretch>
            <a:fillRect/>
          </a:stretch>
        </p:blipFill>
        <p:spPr>
          <a:xfrm>
            <a:off x="7941458" y="3152029"/>
            <a:ext cx="9533744" cy="3458287"/>
          </a:xfrm>
          <a:prstGeom prst="rect">
            <a:avLst/>
          </a:prstGeom>
        </p:spPr>
      </p:pic>
      <p:sp>
        <p:nvSpPr>
          <p:cNvPr id="7" name="TextBox 6">
            <a:extLst>
              <a:ext uri="{FF2B5EF4-FFF2-40B4-BE49-F238E27FC236}">
                <a16:creationId xmlns:a16="http://schemas.microsoft.com/office/drawing/2014/main" id="{BE3850EB-64D1-C809-B040-594516EE1992}"/>
              </a:ext>
            </a:extLst>
          </p:cNvPr>
          <p:cNvSpPr txBox="1"/>
          <p:nvPr/>
        </p:nvSpPr>
        <p:spPr>
          <a:xfrm>
            <a:off x="8204200" y="6610316"/>
            <a:ext cx="8784236" cy="307777"/>
          </a:xfrm>
          <a:prstGeom prst="rect">
            <a:avLst/>
          </a:prstGeom>
          <a:noFill/>
        </p:spPr>
        <p:txBody>
          <a:bodyPr wrap="square">
            <a:spAutoFit/>
          </a:bodyPr>
          <a:lstStyle/>
          <a:p>
            <a:pPr algn="ctr" defTabSz="914451">
              <a:defRPr/>
            </a:pPr>
            <a:r>
              <a:rPr lang="en-US" sz="1400" i="1" dirty="0">
                <a:solidFill>
                  <a:prstClr val="black">
                    <a:lumMod val="65000"/>
                    <a:lumOff val="35000"/>
                  </a:prstClr>
                </a:solidFill>
                <a:latin typeface="Cambria" panose="02040503050406030204" pitchFamily="18" charset="0"/>
                <a:ea typeface="Cambria" panose="02040503050406030204" pitchFamily="18" charset="0"/>
              </a:rPr>
              <a:t>Figure 4. Pseudotime and cell type distribution at mock (uninfected cells).</a:t>
            </a:r>
          </a:p>
        </p:txBody>
      </p:sp>
      <p:sp>
        <p:nvSpPr>
          <p:cNvPr id="8" name="Title 7">
            <a:extLst>
              <a:ext uri="{FF2B5EF4-FFF2-40B4-BE49-F238E27FC236}">
                <a16:creationId xmlns:a16="http://schemas.microsoft.com/office/drawing/2014/main" id="{D9EF57D0-CB0E-00E3-1DC0-030FEAAD1ED0}"/>
              </a:ext>
            </a:extLst>
          </p:cNvPr>
          <p:cNvSpPr>
            <a:spLocks noGrp="1"/>
          </p:cNvSpPr>
          <p:nvPr>
            <p:ph type="title"/>
          </p:nvPr>
        </p:nvSpPr>
        <p:spPr>
          <a:xfrm>
            <a:off x="266464" y="356856"/>
            <a:ext cx="15875471" cy="492443"/>
          </a:xfrm>
        </p:spPr>
        <p:txBody>
          <a:bodyPr/>
          <a:lstStyle/>
          <a:p>
            <a:r>
              <a:rPr lang="fr-FR" sz="3200" b="1" dirty="0">
                <a:latin typeface="Cambria" panose="02040503050406030204" pitchFamily="18" charset="0"/>
                <a:ea typeface="Cambria" panose="02040503050406030204" pitchFamily="18" charset="0"/>
              </a:rPr>
              <a:t>Pseudotime Trajectory Analysis</a:t>
            </a:r>
            <a:endParaRPr lang="en-US" sz="3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76353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0B5E189-B0EF-5A89-F336-41C69C35FC9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F6C36BF-DB1B-C5E9-213F-94BA2E6E5839}"/>
              </a:ext>
            </a:extLst>
          </p:cNvPr>
          <p:cNvPicPr>
            <a:picLocks noChangeAspect="1"/>
          </p:cNvPicPr>
          <p:nvPr/>
        </p:nvPicPr>
        <p:blipFill>
          <a:blip r:embed="rId2"/>
          <a:stretch>
            <a:fillRect/>
          </a:stretch>
        </p:blipFill>
        <p:spPr>
          <a:xfrm>
            <a:off x="7907812" y="2438401"/>
            <a:ext cx="9548236" cy="3546082"/>
          </a:xfrm>
          <a:prstGeom prst="rect">
            <a:avLst/>
          </a:prstGeom>
        </p:spPr>
      </p:pic>
      <p:sp>
        <p:nvSpPr>
          <p:cNvPr id="8" name="TextBox 7">
            <a:extLst>
              <a:ext uri="{FF2B5EF4-FFF2-40B4-BE49-F238E27FC236}">
                <a16:creationId xmlns:a16="http://schemas.microsoft.com/office/drawing/2014/main" id="{01D54BC6-8441-B962-2AE0-19F5E7F59A87}"/>
              </a:ext>
            </a:extLst>
          </p:cNvPr>
          <p:cNvSpPr txBox="1"/>
          <p:nvPr/>
        </p:nvSpPr>
        <p:spPr>
          <a:xfrm>
            <a:off x="19154" y="2285290"/>
            <a:ext cx="8081390" cy="5183022"/>
          </a:xfrm>
          <a:prstGeom prst="rect">
            <a:avLst/>
          </a:prstGeom>
          <a:noFill/>
        </p:spPr>
        <p:txBody>
          <a:bodyPr wrap="square">
            <a:spAutoFit/>
          </a:bodyPr>
          <a:lstStyle/>
          <a:p>
            <a:pPr marL="457225" indent="-457225" algn="l">
              <a:lnSpc>
                <a:spcPct val="150000"/>
              </a:lnSpc>
              <a:buFont typeface="Arial" panose="020B0604020202020204" pitchFamily="34" charset="0"/>
              <a:buChar char="•"/>
            </a:pPr>
            <a:r>
              <a:rPr lang="en-US" sz="2800" dirty="0">
                <a:latin typeface="Cambria" panose="02040503050406030204" pitchFamily="18" charset="0"/>
                <a:ea typeface="Cambria" panose="02040503050406030204" pitchFamily="18" charset="0"/>
              </a:rPr>
              <a:t>The </a:t>
            </a:r>
            <a:r>
              <a:rPr lang="en-US" sz="2800" b="1" i="1" dirty="0">
                <a:latin typeface="Cambria" panose="02040503050406030204" pitchFamily="18" charset="0"/>
                <a:ea typeface="Cambria" panose="02040503050406030204" pitchFamily="18" charset="0"/>
              </a:rPr>
              <a:t>1 dpi </a:t>
            </a:r>
            <a:r>
              <a:rPr lang="en-US" sz="2800" dirty="0">
                <a:latin typeface="Cambria" panose="02040503050406030204" pitchFamily="18" charset="0"/>
                <a:ea typeface="Cambria" panose="02040503050406030204" pitchFamily="18" charset="0"/>
              </a:rPr>
              <a:t>trajectory shows the first detectable shift from baseline epithelial homeostasis toward infection-associated states. </a:t>
            </a:r>
          </a:p>
          <a:p>
            <a:pPr marL="457225" indent="-457225" algn="l">
              <a:lnSpc>
                <a:spcPct val="150000"/>
              </a:lnSpc>
              <a:buFont typeface="Arial" panose="020B0604020202020204" pitchFamily="34" charset="0"/>
              <a:buChar char="•"/>
            </a:pPr>
            <a:r>
              <a:rPr lang="en-US" sz="2800" dirty="0">
                <a:latin typeface="Cambria" panose="02040503050406030204" pitchFamily="18" charset="0"/>
                <a:ea typeface="Cambria" panose="02040503050406030204" pitchFamily="18" charset="0"/>
              </a:rPr>
              <a:t>The presence of alveolar and ionocyte cells in later pseudotime suggests that viral sensing and metabolic adaptation begin as early as 24 hours post-infection, but global transcriptional remodeling is still incomplete.</a:t>
            </a:r>
          </a:p>
        </p:txBody>
      </p:sp>
      <p:sp>
        <p:nvSpPr>
          <p:cNvPr id="10" name="TextBox 9">
            <a:extLst>
              <a:ext uri="{FF2B5EF4-FFF2-40B4-BE49-F238E27FC236}">
                <a16:creationId xmlns:a16="http://schemas.microsoft.com/office/drawing/2014/main" id="{176699A8-B1CE-7520-E660-2D60D0FAE72A}"/>
              </a:ext>
            </a:extLst>
          </p:cNvPr>
          <p:cNvSpPr txBox="1"/>
          <p:nvPr/>
        </p:nvSpPr>
        <p:spPr>
          <a:xfrm>
            <a:off x="8280400" y="5984483"/>
            <a:ext cx="9067800" cy="1600438"/>
          </a:xfrm>
          <a:prstGeom prst="rect">
            <a:avLst/>
          </a:prstGeom>
          <a:noFill/>
        </p:spPr>
        <p:txBody>
          <a:bodyPr wrap="square">
            <a:spAutoFit/>
          </a:bodyPr>
          <a:lstStyle/>
          <a:p>
            <a:pPr algn="ctr"/>
            <a:r>
              <a:rPr lang="en-US" i="1" dirty="0">
                <a:solidFill>
                  <a:schemeClr val="tx1">
                    <a:lumMod val="65000"/>
                    <a:lumOff val="35000"/>
                  </a:schemeClr>
                </a:solidFill>
                <a:latin typeface="Cambria" panose="02040503050406030204" pitchFamily="18" charset="0"/>
                <a:ea typeface="Cambria" panose="02040503050406030204" pitchFamily="18" charset="0"/>
              </a:rPr>
              <a:t>Figure 5. Pseudotime trajectory and cell type clustering at 1 dpi.</a:t>
            </a:r>
          </a:p>
          <a:p>
            <a:pPr algn="just"/>
            <a:r>
              <a:rPr lang="en-US" sz="1600" i="1" dirty="0">
                <a:solidFill>
                  <a:schemeClr val="tx1">
                    <a:lumMod val="65000"/>
                    <a:lumOff val="35000"/>
                  </a:schemeClr>
                </a:solidFill>
                <a:latin typeface="Cambria" panose="02040503050406030204" pitchFamily="18" charset="0"/>
                <a:ea typeface="Cambria" panose="02040503050406030204" pitchFamily="18" charset="0"/>
              </a:rPr>
              <a:t>Cells progress from airway epithelial and myofibroblast populations (early pseudotime, purple) to pulmonary alveolar and ionocyte clusters (late pseudotime, yellow), indicating early infection-associated transcriptional activation. Branching of the pseudotime manifold suggests heterogeneity in the host response, where some epithelial cells remain homeostatic while others initiate metabolic and antiviral programs.</a:t>
            </a:r>
          </a:p>
        </p:txBody>
      </p:sp>
      <p:sp>
        <p:nvSpPr>
          <p:cNvPr id="11" name="Title 7">
            <a:extLst>
              <a:ext uri="{FF2B5EF4-FFF2-40B4-BE49-F238E27FC236}">
                <a16:creationId xmlns:a16="http://schemas.microsoft.com/office/drawing/2014/main" id="{50B41177-6EAD-8837-B2EE-1A410015F83A}"/>
              </a:ext>
            </a:extLst>
          </p:cNvPr>
          <p:cNvSpPr>
            <a:spLocks noGrp="1"/>
          </p:cNvSpPr>
          <p:nvPr>
            <p:ph type="title"/>
          </p:nvPr>
        </p:nvSpPr>
        <p:spPr>
          <a:xfrm>
            <a:off x="266464" y="356856"/>
            <a:ext cx="15875471" cy="492443"/>
          </a:xfrm>
        </p:spPr>
        <p:txBody>
          <a:bodyPr/>
          <a:lstStyle/>
          <a:p>
            <a:r>
              <a:rPr lang="fr-FR" sz="3200" b="1" dirty="0">
                <a:latin typeface="Cambria" panose="02040503050406030204" pitchFamily="18" charset="0"/>
                <a:ea typeface="Cambria" panose="02040503050406030204" pitchFamily="18" charset="0"/>
              </a:rPr>
              <a:t>Pseudotime Trajectory Analysis</a:t>
            </a:r>
            <a:endParaRPr lang="en-US" sz="3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21974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EBDDB0B-4284-0FE2-5198-2B9592B895B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9B01EA5-90D3-586A-FDF3-9406DD7C2FFB}"/>
              </a:ext>
            </a:extLst>
          </p:cNvPr>
          <p:cNvSpPr txBox="1"/>
          <p:nvPr/>
        </p:nvSpPr>
        <p:spPr>
          <a:xfrm>
            <a:off x="508001" y="6488721"/>
            <a:ext cx="16459200" cy="2597699"/>
          </a:xfrm>
          <a:prstGeom prst="rect">
            <a:avLst/>
          </a:prstGeom>
          <a:noFill/>
        </p:spPr>
        <p:txBody>
          <a:bodyPr wrap="square">
            <a:spAutoFit/>
          </a:bodyPr>
          <a:lstStyle/>
          <a:p>
            <a:pPr marL="457225" indent="-457225" algn="just">
              <a:lnSpc>
                <a:spcPct val="150000"/>
              </a:lnSpc>
              <a:buFont typeface="Arial" panose="020B0604020202020204" pitchFamily="34" charset="0"/>
              <a:buChar char="•"/>
            </a:pPr>
            <a:r>
              <a:rPr lang="en-US" sz="2800" dirty="0">
                <a:latin typeface="Cambria" panose="02040503050406030204" pitchFamily="18" charset="0"/>
                <a:ea typeface="Cambria" panose="02040503050406030204" pitchFamily="18" charset="0"/>
              </a:rPr>
              <a:t>By </a:t>
            </a:r>
            <a:r>
              <a:rPr lang="en-US" sz="2800" b="1" i="1" dirty="0">
                <a:latin typeface="Cambria" panose="02040503050406030204" pitchFamily="18" charset="0"/>
                <a:ea typeface="Cambria" panose="02040503050406030204" pitchFamily="18" charset="0"/>
              </a:rPr>
              <a:t>3 dpi</a:t>
            </a:r>
            <a:r>
              <a:rPr lang="en-US" sz="2800" dirty="0">
                <a:latin typeface="Cambria" panose="02040503050406030204" pitchFamily="18" charset="0"/>
                <a:ea typeface="Cambria" panose="02040503050406030204" pitchFamily="18" charset="0"/>
              </a:rPr>
              <a:t>, SARS-CoV-2 infection induces profound transcriptional remodeling, shifting the cellular system from stable epithelial homeostasis toward a highly inflammatory and immune-dominated state.</a:t>
            </a:r>
          </a:p>
          <a:p>
            <a:pPr marL="457225" indent="-457225" algn="just">
              <a:lnSpc>
                <a:spcPct val="150000"/>
              </a:lnSpc>
              <a:buFont typeface="Arial" panose="020B0604020202020204" pitchFamily="34" charset="0"/>
              <a:buChar char="•"/>
            </a:pPr>
            <a:r>
              <a:rPr lang="en-US" sz="2800" dirty="0">
                <a:latin typeface="Cambria" panose="02040503050406030204" pitchFamily="18" charset="0"/>
                <a:ea typeface="Cambria" panose="02040503050406030204" pitchFamily="18" charset="0"/>
              </a:rPr>
              <a:t>Pseudotime reflects infection progression and tissue response rather than differentiation, with macrophages and goblet cells representing terminal response states.</a:t>
            </a:r>
          </a:p>
        </p:txBody>
      </p:sp>
      <p:pic>
        <p:nvPicPr>
          <p:cNvPr id="2" name="Picture 1">
            <a:extLst>
              <a:ext uri="{FF2B5EF4-FFF2-40B4-BE49-F238E27FC236}">
                <a16:creationId xmlns:a16="http://schemas.microsoft.com/office/drawing/2014/main" id="{E6FBD611-5DC4-8116-074C-46653777A5EF}"/>
              </a:ext>
            </a:extLst>
          </p:cNvPr>
          <p:cNvPicPr>
            <a:picLocks noChangeAspect="1"/>
          </p:cNvPicPr>
          <p:nvPr/>
        </p:nvPicPr>
        <p:blipFill>
          <a:blip r:embed="rId2"/>
          <a:stretch>
            <a:fillRect/>
          </a:stretch>
        </p:blipFill>
        <p:spPr>
          <a:xfrm>
            <a:off x="2855642" y="1555443"/>
            <a:ext cx="11763916" cy="4230882"/>
          </a:xfrm>
          <a:prstGeom prst="rect">
            <a:avLst/>
          </a:prstGeom>
        </p:spPr>
      </p:pic>
      <p:sp>
        <p:nvSpPr>
          <p:cNvPr id="4" name="TextBox 3">
            <a:extLst>
              <a:ext uri="{FF2B5EF4-FFF2-40B4-BE49-F238E27FC236}">
                <a16:creationId xmlns:a16="http://schemas.microsoft.com/office/drawing/2014/main" id="{64E8927D-03A2-04B0-8325-9A38848A4B71}"/>
              </a:ext>
            </a:extLst>
          </p:cNvPr>
          <p:cNvSpPr txBox="1"/>
          <p:nvPr/>
        </p:nvSpPr>
        <p:spPr>
          <a:xfrm>
            <a:off x="3327401" y="5786324"/>
            <a:ext cx="10287000" cy="307777"/>
          </a:xfrm>
          <a:prstGeom prst="rect">
            <a:avLst/>
          </a:prstGeom>
          <a:noFill/>
        </p:spPr>
        <p:txBody>
          <a:bodyPr wrap="square">
            <a:spAutoFit/>
          </a:bodyPr>
          <a:lstStyle/>
          <a:p>
            <a:pPr algn="ctr"/>
            <a:r>
              <a:rPr lang="en-US" sz="1400" i="1" dirty="0">
                <a:solidFill>
                  <a:schemeClr val="tx1">
                    <a:lumMod val="65000"/>
                    <a:lumOff val="35000"/>
                  </a:schemeClr>
                </a:solidFill>
                <a:latin typeface="Cambria" panose="02040503050406030204" pitchFamily="18" charset="0"/>
                <a:ea typeface="Cambria" panose="02040503050406030204" pitchFamily="18" charset="0"/>
              </a:rPr>
              <a:t>Figure 6. Pseudotime and cell type distribution at 3 dpi reveal advanced transcriptional remodeling during SARS-CoV-2 infection.</a:t>
            </a:r>
          </a:p>
        </p:txBody>
      </p:sp>
      <p:sp>
        <p:nvSpPr>
          <p:cNvPr id="6" name="Title 7">
            <a:extLst>
              <a:ext uri="{FF2B5EF4-FFF2-40B4-BE49-F238E27FC236}">
                <a16:creationId xmlns:a16="http://schemas.microsoft.com/office/drawing/2014/main" id="{E8A6A1F5-8A92-FE8E-00FF-C17FAC9789A1}"/>
              </a:ext>
            </a:extLst>
          </p:cNvPr>
          <p:cNvSpPr>
            <a:spLocks noGrp="1"/>
          </p:cNvSpPr>
          <p:nvPr>
            <p:ph type="title"/>
          </p:nvPr>
        </p:nvSpPr>
        <p:spPr>
          <a:xfrm>
            <a:off x="266464" y="356856"/>
            <a:ext cx="15875471" cy="492443"/>
          </a:xfrm>
        </p:spPr>
        <p:txBody>
          <a:bodyPr/>
          <a:lstStyle/>
          <a:p>
            <a:r>
              <a:rPr lang="fr-FR" sz="3200" b="1" dirty="0">
                <a:latin typeface="Cambria" panose="02040503050406030204" pitchFamily="18" charset="0"/>
                <a:ea typeface="Cambria" panose="02040503050406030204" pitchFamily="18" charset="0"/>
              </a:rPr>
              <a:t>Pseudotime Trajectory Analysis</a:t>
            </a:r>
            <a:endParaRPr lang="en-US" sz="3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23997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868A4A-5091-46E2-6C9C-CCB0730196C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6E41069-55AE-1D73-3D6B-E561A5F6D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74752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CF7A367-B928-C748-B031-752AA0D0FE48}"/>
              </a:ext>
            </a:extLst>
          </p:cNvPr>
          <p:cNvPicPr>
            <a:picLocks noChangeAspect="1"/>
          </p:cNvPicPr>
          <p:nvPr/>
        </p:nvPicPr>
        <p:blipFill>
          <a:blip r:embed="rId3"/>
          <a:srcRect t="7010" b="67106"/>
          <a:stretch>
            <a:fillRect/>
          </a:stretch>
        </p:blipFill>
        <p:spPr>
          <a:xfrm>
            <a:off x="628693" y="4342196"/>
            <a:ext cx="16187001" cy="2287204"/>
          </a:xfrm>
          <a:prstGeom prst="rect">
            <a:avLst/>
          </a:prstGeom>
        </p:spPr>
      </p:pic>
      <p:pic>
        <p:nvPicPr>
          <p:cNvPr id="3" name="Picture 2">
            <a:extLst>
              <a:ext uri="{FF2B5EF4-FFF2-40B4-BE49-F238E27FC236}">
                <a16:creationId xmlns:a16="http://schemas.microsoft.com/office/drawing/2014/main" id="{10D7BCD3-6957-4C81-F18F-A8F291C44BDC}"/>
              </a:ext>
            </a:extLst>
          </p:cNvPr>
          <p:cNvPicPr>
            <a:picLocks noChangeAspect="1"/>
          </p:cNvPicPr>
          <p:nvPr/>
        </p:nvPicPr>
        <p:blipFill>
          <a:blip r:embed="rId4"/>
          <a:srcRect t="49501" b="34393"/>
          <a:stretch>
            <a:fillRect/>
          </a:stretch>
        </p:blipFill>
        <p:spPr>
          <a:xfrm>
            <a:off x="628693" y="6629400"/>
            <a:ext cx="16187001" cy="1323184"/>
          </a:xfrm>
          <a:prstGeom prst="rect">
            <a:avLst/>
          </a:prstGeom>
        </p:spPr>
      </p:pic>
      <p:sp>
        <p:nvSpPr>
          <p:cNvPr id="4" name="TextBox 3">
            <a:extLst>
              <a:ext uri="{FF2B5EF4-FFF2-40B4-BE49-F238E27FC236}">
                <a16:creationId xmlns:a16="http://schemas.microsoft.com/office/drawing/2014/main" id="{0A6E50BE-F901-7EE8-7B94-EB1C79744E02}"/>
              </a:ext>
            </a:extLst>
          </p:cNvPr>
          <p:cNvSpPr txBox="1"/>
          <p:nvPr/>
        </p:nvSpPr>
        <p:spPr>
          <a:xfrm>
            <a:off x="644101" y="669611"/>
            <a:ext cx="2911899" cy="584775"/>
          </a:xfrm>
          <a:prstGeom prst="rect">
            <a:avLst/>
          </a:prstGeom>
          <a:noFill/>
        </p:spPr>
        <p:txBody>
          <a:bodyPr wrap="square" rtlCol="0">
            <a:spAutoFit/>
          </a:bodyPr>
          <a:lstStyle/>
          <a:p>
            <a:pPr algn="l"/>
            <a:r>
              <a:rPr lang="fr-FR" sz="3200" b="1" dirty="0">
                <a:latin typeface="Cambria" panose="02040503050406030204" pitchFamily="18" charset="0"/>
                <a:ea typeface="Cambria" panose="02040503050406030204" pitchFamily="18" charset="0"/>
              </a:rPr>
              <a:t>CONCLUSION</a:t>
            </a:r>
            <a:endParaRPr lang="en-US" sz="3200" b="1" dirty="0">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E6F2D375-9A40-FB8E-559C-CCB11AE283E0}"/>
              </a:ext>
            </a:extLst>
          </p:cNvPr>
          <p:cNvSpPr txBox="1"/>
          <p:nvPr/>
        </p:nvSpPr>
        <p:spPr>
          <a:xfrm>
            <a:off x="612037" y="2075813"/>
            <a:ext cx="16187001" cy="1384995"/>
          </a:xfrm>
          <a:prstGeom prst="rect">
            <a:avLst/>
          </a:prstGeom>
          <a:noFill/>
        </p:spPr>
        <p:txBody>
          <a:bodyPr wrap="square">
            <a:spAutoFit/>
          </a:bodyPr>
          <a:lstStyle/>
          <a:p>
            <a:pPr marL="457200" indent="-457200" algn="just">
              <a:buFont typeface="Wingdings" panose="05000000000000000000" pitchFamily="2" charset="2"/>
              <a:buChar char="q"/>
            </a:pPr>
            <a:r>
              <a:rPr lang="en-US" sz="2800" dirty="0">
                <a:latin typeface="Cambria" panose="02040503050406030204" pitchFamily="18" charset="0"/>
                <a:ea typeface="Cambria" panose="02040503050406030204" pitchFamily="18" charset="0"/>
              </a:rPr>
              <a:t>SARS-CoV-2 infection is not a single event; it is a dynamic reprogramming of the airway epithelium. Through pseudotime, we capture the molecular choreography of viral entry, metabolic adaptation, and tissue inflammation. </a:t>
            </a:r>
          </a:p>
        </p:txBody>
      </p:sp>
    </p:spTree>
    <p:extLst>
      <p:ext uri="{BB962C8B-B14F-4D97-AF65-F5344CB8AC3E}">
        <p14:creationId xmlns:p14="http://schemas.microsoft.com/office/powerpoint/2010/main" val="1357535768"/>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161</TotalTime>
  <Words>644</Words>
  <Application>Microsoft Office PowerPoint</Application>
  <PresentationFormat>Custom</PresentationFormat>
  <Paragraphs>41</Paragraphs>
  <Slides>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Arial MT</vt:lpstr>
      <vt:lpstr>Cambria</vt:lpstr>
      <vt:lpstr>Wingdings</vt:lpstr>
      <vt:lpstr>Office Theme</vt:lpstr>
      <vt:lpstr>SARS-CoV-2 scRNA-seq Pseudotime Trajectory Analysis</vt:lpstr>
      <vt:lpstr>How can we   map  the cellular-level impact of SARS-CoV-2 over time?</vt:lpstr>
      <vt:lpstr>The  airway epithelium at baseline is  a  complex and structured community.</vt:lpstr>
      <vt:lpstr>PowerPoint Presentation</vt:lpstr>
      <vt:lpstr>Pseudotime Trajectory Analysis</vt:lpstr>
      <vt:lpstr>Pseudotime Trajectory Analysis</vt:lpstr>
      <vt:lpstr>Pseudotime Trajectory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Lavinia Dorothea Frau-Vaughn Joseph</dc:creator>
  <cp:lastModifiedBy>Lavinia Dorothea Frau-Vaughn Joseph</cp:lastModifiedBy>
  <cp:revision>3</cp:revision>
  <dcterms:created xsi:type="dcterms:W3CDTF">2025-12-06T17:13:11Z</dcterms:created>
  <dcterms:modified xsi:type="dcterms:W3CDTF">2025-12-06T19:55:25Z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2025-12-06T00:00:00Z</vt:filetime>
  </property>
  <property fmtid="{D5CDD505-2E9C-101B-9397-08002B2CF9AE}" pid="3" name="LastSaved">
    <vt:filetime>2025-12-06T00:00:00Z</vt:filetime>
  </property>
</Properties>
</file>